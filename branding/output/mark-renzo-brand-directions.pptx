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f8d190440b4ecf" /><Relationship Type="http://schemas.openxmlformats.org/officeDocument/2006/relationships/extended-properties" Target="/docProps/app.xml" Id="R78b6c9c4331d4dc9" /><Relationship Type="http://schemas.openxmlformats.org/officeDocument/2006/relationships/officeDocument" Target="/ppt/presentation.xml" Id="R6b33d3a436d04dd6" /></Relationships>
</file>

<file path=ppt/presentation.xml><?xml version="1.0" encoding="utf-8"?>
<p:presentation xmlns:p="http://schemas.openxmlformats.org/presentationml/2006/main">
  <p:sldMasterIdLst>
    <p:sldMasterId xmlns:r="http://schemas.openxmlformats.org/officeDocument/2006/relationships" id="2147483648" r:id="Rcdc7fd9426c8414d"/>
  </p:sldMasterIdLst>
  <p:notesMasterIdLst>
    <p:notesMasterId xmlns:r="http://schemas.openxmlformats.org/officeDocument/2006/relationships" r:id="Rc95bdd5bc1dd4a70"/>
  </p:notesMasterIdLst>
  <p:sldIdLst>
    <p:sldId xmlns:r="http://schemas.openxmlformats.org/officeDocument/2006/relationships" id="256" r:id="R12c4a7f99750440f"/>
    <p:sldId xmlns:r="http://schemas.openxmlformats.org/officeDocument/2006/relationships" id="257" r:id="R4aa6f3647789410e"/>
    <p:sldId xmlns:r="http://schemas.openxmlformats.org/officeDocument/2006/relationships" id="258" r:id="Rc1bf5d541dfe4d2c"/>
    <p:sldId xmlns:r="http://schemas.openxmlformats.org/officeDocument/2006/relationships" id="259" r:id="R1d9877b4600348f8"/>
    <p:sldId xmlns:r="http://schemas.openxmlformats.org/officeDocument/2006/relationships" id="260" r:id="R6accc8fb71ff43fe"/>
    <p:sldId xmlns:r="http://schemas.openxmlformats.org/officeDocument/2006/relationships" id="261" r:id="R218ecf719f1c4194"/>
    <p:sldId xmlns:r="http://schemas.openxmlformats.org/officeDocument/2006/relationships" id="262" r:id="Rff23afa9c1494a8a"/>
    <p:sldId xmlns:r="http://schemas.openxmlformats.org/officeDocument/2006/relationships" id="263" r:id="R1a55ab7344144520"/>
    <p:sldId xmlns:r="http://schemas.openxmlformats.org/officeDocument/2006/relationships" id="264" r:id="R29f2078d7be74e6e"/>
    <p:sldId xmlns:r="http://schemas.openxmlformats.org/officeDocument/2006/relationships" id="265" r:id="R604df8f78ece43e4"/>
    <p:sldId xmlns:r="http://schemas.openxmlformats.org/officeDocument/2006/relationships" id="266" r:id="R1b3b1ddd12d84bcd"/>
  </p:sldIdLst>
  <p:sldSz cx="11430000" cy="762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c94f798393428a" /><Relationship Type="http://schemas.openxmlformats.org/officeDocument/2006/relationships/slideMaster" Target="/ppt/slideMasters/slideMaster1.xml" Id="Rcdc7fd9426c8414d" /><Relationship Type="http://schemas.openxmlformats.org/officeDocument/2006/relationships/notesMaster" Target="/ppt/notesMasters/notesMaster1.xml" Id="Rc95bdd5bc1dd4a70" /><Relationship Type="http://schemas.openxmlformats.org/officeDocument/2006/relationships/presProps" Target="/ppt/presProps.xml" Id="R1ecb881fb61a4aa8" /><Relationship Type="http://schemas.openxmlformats.org/officeDocument/2006/relationships/tableStyles" Target="/ppt/tableStyles.xml" Id="R9313e4a42c294b4e" /><Relationship Type="http://schemas.openxmlformats.org/officeDocument/2006/relationships/slide" Target="/ppt/slides/slide1.xml" Id="R12c4a7f99750440f" /><Relationship Type="http://schemas.openxmlformats.org/officeDocument/2006/relationships/slide" Target="/ppt/slides/slide2.xml" Id="R4aa6f3647789410e" /><Relationship Type="http://schemas.openxmlformats.org/officeDocument/2006/relationships/slide" Target="/ppt/slides/slide3.xml" Id="Rc1bf5d541dfe4d2c" /><Relationship Type="http://schemas.openxmlformats.org/officeDocument/2006/relationships/slide" Target="/ppt/slides/slide4.xml" Id="R1d9877b4600348f8" /><Relationship Type="http://schemas.openxmlformats.org/officeDocument/2006/relationships/slide" Target="/ppt/slides/slide5.xml" Id="R6accc8fb71ff43fe" /><Relationship Type="http://schemas.openxmlformats.org/officeDocument/2006/relationships/slide" Target="/ppt/slides/slide6.xml" Id="R218ecf719f1c4194" /><Relationship Type="http://schemas.openxmlformats.org/officeDocument/2006/relationships/slide" Target="/ppt/slides/slide7.xml" Id="Rff23afa9c1494a8a" /><Relationship Type="http://schemas.openxmlformats.org/officeDocument/2006/relationships/slide" Target="/ppt/slides/slide8.xml" Id="R1a55ab7344144520" /><Relationship Type="http://schemas.openxmlformats.org/officeDocument/2006/relationships/slide" Target="/ppt/slides/slide9.xml" Id="R29f2078d7be74e6e" /><Relationship Type="http://schemas.openxmlformats.org/officeDocument/2006/relationships/slide" Target="/ppt/slides/slide10.xml" Id="R604df8f78ece43e4" /><Relationship Type="http://schemas.openxmlformats.org/officeDocument/2006/relationships/slide" Target="/ppt/slides/slide11.xml" Id="R1b3b1ddd12d84b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473bd3cfac48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urious Human">
      <a:dk1>
        <a:srgbClr val="20211E"/>
      </a:dk1>
      <a:lt1>
        <a:srgbClr val="FFFFFF"/>
      </a:lt1>
      <a:dk2>
        <a:srgbClr val="62665E"/>
      </a:dk2>
      <a:lt2>
        <a:srgbClr val="F6F5EF"/>
      </a:lt2>
      <a:accent1>
        <a:srgbClr val="2453FF"/>
      </a:accent1>
      <a:accent2>
        <a:srgbClr val="20211E"/>
      </a:accent2>
      <a:accent3>
        <a:srgbClr val="DDEF8B"/>
      </a:accent3>
      <a:accent4>
        <a:srgbClr val="ED4C32"/>
      </a:accent4>
      <a:accent5>
        <a:srgbClr val="51449B"/>
      </a:accent5>
      <a:accent6>
        <a:srgbClr val="184B38"/>
      </a:accent6>
      <a:hlink>
        <a:srgbClr val="2453FF"/>
      </a:hlink>
      <a:folHlink>
        <a:srgbClr val="2453FF"/>
      </a:folHlink>
    </a:clrScheme>
    <a:fontScheme name="">
      <a:majorFont>
        <a:latin typeface="Aptos"/>
        <a:ea typeface=""/>
        <a:cs typeface=""/>
      </a:majorFont>
      <a:minorFont>
        <a:latin typeface="Aptos"/>
        <a:ea typeface=""/>
        <a:cs typeface=""/>
      </a:minorFont>
    </a:fontScheme>
    <a:fmtScheme name="Curious Hu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795dd7b69b4ade" /><Relationship Type="http://schemas.openxmlformats.org/officeDocument/2006/relationships/notesMaster" Target="/ppt/notesMasters/notesMaster1.xml" Id="Rf6d45d139baa40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2e1e0e77ac4394" /><Relationship Type="http://schemas.openxmlformats.org/officeDocument/2006/relationships/notesMaster" Target="/ppt/notesMasters/notesMaster1.xml" Id="Re889051dd50140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218a29cb594886" /><Relationship Type="http://schemas.openxmlformats.org/officeDocument/2006/relationships/notesMaster" Target="/ppt/notesMasters/notesMaster1.xml" Id="Rb2b45a3d7b304c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b6fc5edc5c42ff" /><Relationship Type="http://schemas.openxmlformats.org/officeDocument/2006/relationships/notesMaster" Target="/ppt/notesMasters/notesMaster1.xml" Id="R6e4c4548f9b844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e2e483dc2c4eea" /><Relationship Type="http://schemas.openxmlformats.org/officeDocument/2006/relationships/notesMaster" Target="/ppt/notesMasters/notesMaster1.xml" Id="R2bbeeaa3bf9b4e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15f1c706b54cd8" /><Relationship Type="http://schemas.openxmlformats.org/officeDocument/2006/relationships/notesMaster" Target="/ppt/notesMasters/notesMaster1.xml" Id="R2c3bf0ac498f41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e82eb91f5a4ab5" /><Relationship Type="http://schemas.openxmlformats.org/officeDocument/2006/relationships/notesMaster" Target="/ppt/notesMasters/notesMaster1.xml" Id="R8dbd5caf418b45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f96e942d5d41c1" /><Relationship Type="http://schemas.openxmlformats.org/officeDocument/2006/relationships/notesMaster" Target="/ppt/notesMasters/notesMaster1.xml" Id="Rd1cb915e3fc246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c75d141ccd4af0" /><Relationship Type="http://schemas.openxmlformats.org/officeDocument/2006/relationships/notesMaster" Target="/ppt/notesMasters/notesMaster1.xml" Id="R222c4b323ee64a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165660a95e42e9" /><Relationship Type="http://schemas.openxmlformats.org/officeDocument/2006/relationships/notesMaster" Target="/ppt/notesMasters/notesMaster1.xml" Id="R2da1126737ed49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d03e2dc2db423a" /><Relationship Type="http://schemas.openxmlformats.org/officeDocument/2006/relationships/notesMaster" Target="/ppt/notesMasters/notesMaster1.xml" Id="R3f23e963285245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 brief and screenshot provided 2026-10-09. Actual portrait reused with user authorization from https://markrenzo.com/assets/markrenzosquare-B7T_EDH4.png . Current positioning verified from https://markrenzo.com/ . This deck presents five proposed directions for selection before the website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Brand foundation is a design interpretation of the user brief. Creative Technologist &amp; AI Specialist is the current website positioning at https://markrenzo.com/ . Personal life and project knowledge, draggable stickers, AI website control and a build preview are requested future behavior, not a claim that the new site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Direction 01: Curious Human. Artwork generated for this user’s brand exploration from the user brief. Source image: /Users/markrenzo/Documents/ChatGPT/markrenzodotcom/branding/concepts/01-curious-human.png. The board contains concept logo artwork, not final vector logo files. Font pairings elsewhere in this deck are proposed production choices, not claims about exact typefaces drawn in generated artwork. Colors and typography require final refinement after direction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Direction 02: Renzo Radio. Artwork generated for this user’s brand exploration from the user brief. Source image: /Users/markrenzo/Documents/ChatGPT/markrenzodotcom/branding/concepts/02-renzo-radio.png. The board contains concept logo artwork, not final vector logo files. Font pairings elsewhere in this deck are proposed production choices, not claims about exact typefaces drawn in generated artwork. Colors and typography require final refinement after direction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Direction 03: Build Club. Artwork generated for this user’s brand exploration from the user brief. Source image: /Users/markrenzo/Documents/ChatGPT/markrenzodotcom/branding/concepts/03-build-club.png. The board contains concept logo artwork, not final vector logo files. Font pairings elsewhere in this deck are proposed production choices, not claims about exact typefaces drawn in generated artwork. Colors and typography require final refinement after direction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Direction 04: Open Tabs. Artwork generated for this user’s brand exploration from the user brief. Source image: /Users/markrenzo/Documents/ChatGPT/markrenzodotcom/branding/concepts/04-open-tabs.png. The board contains concept logo artwork, not final vector logo files. Font pairings elsewhere in this deck are proposed production choices, not claims about exact typefaces drawn in generated artwork. Colors and typography require final refinement after direction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Direction 05: Mark in Motion. Artwork generated for this user’s brand exploration from the user brief. Source image: /Users/markrenzo/Documents/ChatGPT/markrenzodotcom/branding/concepts/05-mark-in-motion.png. The board contains concept logo artwork, not final vector logo files. Font pairings elsewhere in this deck are proposed production choices, not claims about exact typefaces drawn in generated artwork. Colors and typography require final refinement after direction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Palette values are authored design proposals. Proposed typefaces verified from primary sources: General Sans https://www.fontshare.com/fonts/general-sans ; DM Sans and DM Serif Display https://github.com/googlefonts/dm-fonts ; Fraunces https://fraunces.undercase.xyz/ (SOFT axis and Soft instances) ; Barlow Condensed https://fonts.google.com/specimen/Barlow+Condensed ; Space Grotesk https://fonts.google.com/specimen/Space+Grotesk ; IBM Plex Mono https://www.ibm.com/design/language/typography/typeface/ ; Archivo Black https://fonts.google.com/specimen/Archivo+Black . Typeface names are editable text labels. The presentation itself uses Helvetica Neue and Georgia.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behavior on this slide is planned and unimplemented. Source: user brief 2026-10-09. User named Courtfolio (also spelled cortfolio in their example). No unsupported project capabilities are implied. Telegram is a planned human-in-the-loop answer channel. Functional website implementation, credential configuration, knowledge-base publishing rules and integration testing are future work after brand direction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Qualitative comparison reflects design judgment based on the supplied screenshot and user brief, not measured market performance or trademark clearance. Each option should remain a coherent identity rather than mixing unrelated logos.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is design judgment: Curious Human most closely follows the cream, ink, cobalt, generous typography and personal sticker sensibility in the supplied screenshot. Renzo Radio contributes warmth through tone and supporting sticker copy only. Final logo construction and a coherent production identity follow the user’s selection. No final vector logo or finished website is represented by this concept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5c70baa1d04ef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fbb7e6246544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af029e3c87408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3cd31a369e4c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04810f77c143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df5e7e909a48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E77E6-497B-4D4A-8778-F843D6924AE7}"/>
              </a:ext>
            </a:extLst>
          </p:cNvPr>
          <p:cNvSpPr>
            <a:spLocks xmlns:a="http://schemas.openxmlformats.org/drawingml/2006/main" noGrp="1"/>
          </p:cNvSpPr>
          <p:nvPr>
            <p:ph type="title" idx="0"/>
          </p:nvPr>
        </p:nvSpPr>
        <p:spPr>
          <a:xfrm xmlns:a="http://schemas.openxmlformats.org/drawingml/2006/main">
            <a:off x="1143000" y="2878667"/>
            <a:ext cx="9144000" cy="1100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5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AF942A-8A41-4C5D-A84E-F246FE1F705B}"/>
              </a:ext>
            </a:extLst>
          </p:cNvPr>
          <p:cNvSpPr>
            <a:spLocks xmlns:a="http://schemas.openxmlformats.org/drawingml/2006/main" noGrp="1"/>
          </p:cNvSpPr>
          <p:nvPr>
            <p:ph type="subTitle" idx="1"/>
          </p:nvPr>
        </p:nvSpPr>
        <p:spPr>
          <a:xfrm xmlns:a="http://schemas.openxmlformats.org/drawingml/2006/main">
            <a:off x="1714500" y="4191000"/>
            <a:ext cx="8001000" cy="84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969"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BCD57A2-B55B-4E85-BFE6-AD2A772B22B8}"/>
              </a:ext>
            </a:extLst>
          </p:cNvPr>
          <p:cNvSpPr>
            <a:spLocks xmlns:a="http://schemas.openxmlformats.org/drawingml/2006/main" noGrp="1"/>
          </p:cNvSpPr>
          <p:nvPr>
            <p:ph type="title" idx="0"/>
          </p:nvPr>
        </p:nvSpPr>
        <p:spPr>
          <a:xfrm xmlns:a="http://schemas.openxmlformats.org/drawingml/2006/main">
            <a:off x="1143000" y="3175000"/>
            <a:ext cx="9144000" cy="127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3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281855-D956-4A8C-BA1F-A899D870DD6E}"/>
              </a:ext>
            </a:extLst>
          </p:cNvPr>
          <p:cNvSpPr>
            <a:spLocks xmlns:a="http://schemas.openxmlformats.org/drawingml/2006/main" noGrp="1"/>
          </p:cNvSpPr>
          <p:nvPr>
            <p:ph type="title" idx="0"/>
          </p:nvPr>
        </p:nvSpPr>
        <p:spPr>
          <a:xfrm xmlns:a="http://schemas.openxmlformats.org/drawingml/2006/main">
            <a:off x="642938" y="592667"/>
            <a:ext cx="10144125"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96B1F2-2F0B-4886-9E32-612A4A077B39}"/>
              </a:ext>
            </a:extLst>
          </p:cNvPr>
          <p:cNvSpPr>
            <a:spLocks xmlns:a="http://schemas.openxmlformats.org/drawingml/2006/main" noGrp="1"/>
          </p:cNvSpPr>
          <p:nvPr>
            <p:ph type="body" idx="1"/>
          </p:nvPr>
        </p:nvSpPr>
        <p:spPr>
          <a:xfrm xmlns:a="http://schemas.openxmlformats.org/drawingml/2006/main">
            <a:off x="642938" y="2116667"/>
            <a:ext cx="10144125"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9" b="0">
                <a:solidFill>
                  <a:schemeClr val="tx1"/>
                </a:solidFill>
                <a:latin typeface="+mn-lt"/>
                <a:ea typeface="+mn-lt"/>
                <a:cs typeface="+mn-lt"/>
              </a:defRPr>
            </a:defPPr>
            <a:lvl1pPr marL="214313" indent="-214312">
              <a:lnSpc>
                <a:spcPct val="110000"/>
              </a:lnSpc>
              <a:spcBef>
                <a:spcPts val="0"/>
              </a:spcBef>
              <a:spcAft>
                <a:spcPts val="1125"/>
              </a:spcAft>
              <a:buChar char="•"/>
            </a:lvl1pPr>
            <a:lvl2pPr marL="500063" indent="-214312">
              <a:lnSpc>
                <a:spcPct val="110000"/>
              </a:lnSpc>
              <a:spcBef>
                <a:spcPts val="0"/>
              </a:spcBef>
              <a:spcAft>
                <a:spcPts val="1125"/>
              </a:spcAft>
              <a:buChar char="•"/>
            </a:lvl2pPr>
            <a:lvl3pPr marL="785813" indent="-214312">
              <a:lnSpc>
                <a:spcPct val="110000"/>
              </a:lnSpc>
              <a:spcBef>
                <a:spcPts val="0"/>
              </a:spcBef>
              <a:spcAft>
                <a:spcPts val="1125"/>
              </a:spcAft>
              <a:buChar char="•"/>
            </a:lvl3pPr>
            <a:lvl4pPr marL="1071563" indent="-214312">
              <a:lnSpc>
                <a:spcPct val="110000"/>
              </a:lnSpc>
              <a:spcBef>
                <a:spcPts val="0"/>
              </a:spcBef>
              <a:spcAft>
                <a:spcPts val="1125"/>
              </a:spcAft>
              <a:buChar char="•"/>
            </a:lvl4pPr>
            <a:lvl5pPr marL="1357313" indent="-214312">
              <a:lnSpc>
                <a:spcPct val="110000"/>
              </a:lnSpc>
              <a:spcBef>
                <a:spcPts val="0"/>
              </a:spcBef>
              <a:spcAft>
                <a:spcPts val="1125"/>
              </a:spcAft>
              <a:buChar char="•"/>
            </a:lvl5pPr>
            <a:lvl6pPr marL="1643063" indent="-214312">
              <a:lnSpc>
                <a:spcPct val="110000"/>
              </a:lnSpc>
              <a:spcBef>
                <a:spcPts val="0"/>
              </a:spcBef>
              <a:spcAft>
                <a:spcPts val="1125"/>
              </a:spcAft>
              <a:buChar char="•"/>
            </a:lvl6pPr>
            <a:lvl7pPr marL="1928813" indent="-214312">
              <a:lnSpc>
                <a:spcPct val="110000"/>
              </a:lnSpc>
              <a:spcBef>
                <a:spcPts val="0"/>
              </a:spcBef>
              <a:spcAft>
                <a:spcPts val="1125"/>
              </a:spcAft>
              <a:buChar char="•"/>
            </a:lvl7pPr>
            <a:lvl8pPr marL="2214563" indent="-214312">
              <a:lnSpc>
                <a:spcPct val="110000"/>
              </a:lnSpc>
              <a:spcBef>
                <a:spcPts val="0"/>
              </a:spcBef>
              <a:spcAft>
                <a:spcPts val="1125"/>
              </a:spcAft>
              <a:buChar char="•"/>
            </a:lvl8pPr>
            <a:lvl9pPr marL="2500313" indent="-214312">
              <a:lnSpc>
                <a:spcPct val="110000"/>
              </a:lnSpc>
              <a:spcBef>
                <a:spcPts val="0"/>
              </a:spcBef>
              <a:spcAft>
                <a:spcPts val="112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15A850D-F221-4F74-A0C5-BCCA9789C5C0}"/>
              </a:ext>
            </a:extLst>
          </p:cNvPr>
          <p:cNvSpPr>
            <a:spLocks xmlns:a="http://schemas.openxmlformats.org/drawingml/2006/main" noGrp="1"/>
          </p:cNvSpPr>
          <p:nvPr>
            <p:ph type="title" idx="0"/>
          </p:nvPr>
        </p:nvSpPr>
        <p:spPr>
          <a:xfrm xmlns:a="http://schemas.openxmlformats.org/drawingml/2006/main">
            <a:off x="642938" y="592667"/>
            <a:ext cx="10144125"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77579E-8342-4A01-9BE4-CDFDC4ADE7C5}"/>
              </a:ext>
            </a:extLst>
          </p:cNvPr>
          <p:cNvSpPr>
            <a:spLocks xmlns:a="http://schemas.openxmlformats.org/drawingml/2006/main" noGrp="1"/>
          </p:cNvSpPr>
          <p:nvPr>
            <p:ph type="body" idx="1"/>
          </p:nvPr>
        </p:nvSpPr>
        <p:spPr>
          <a:xfrm xmlns:a="http://schemas.openxmlformats.org/drawingml/2006/main">
            <a:off x="642938" y="2116667"/>
            <a:ext cx="4714875"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9" b="0">
                <a:solidFill>
                  <a:schemeClr val="tx1"/>
                </a:solidFill>
                <a:latin typeface="+mn-lt"/>
                <a:ea typeface="+mn-lt"/>
                <a:cs typeface="+mn-lt"/>
              </a:defRPr>
            </a:defPPr>
            <a:lvl1pPr marL="214313" indent="-214312">
              <a:lnSpc>
                <a:spcPct val="110000"/>
              </a:lnSpc>
              <a:spcBef>
                <a:spcPts val="0"/>
              </a:spcBef>
              <a:spcAft>
                <a:spcPts val="1125"/>
              </a:spcAft>
              <a:buChar char="•"/>
            </a:lvl1pPr>
            <a:lvl2pPr marL="500063" indent="-214312">
              <a:lnSpc>
                <a:spcPct val="110000"/>
              </a:lnSpc>
              <a:spcBef>
                <a:spcPts val="0"/>
              </a:spcBef>
              <a:spcAft>
                <a:spcPts val="1125"/>
              </a:spcAft>
              <a:buChar char="•"/>
            </a:lvl2pPr>
            <a:lvl3pPr marL="785813" indent="-214312">
              <a:lnSpc>
                <a:spcPct val="110000"/>
              </a:lnSpc>
              <a:spcBef>
                <a:spcPts val="0"/>
              </a:spcBef>
              <a:spcAft>
                <a:spcPts val="1125"/>
              </a:spcAft>
              <a:buChar char="•"/>
            </a:lvl3pPr>
            <a:lvl4pPr marL="1071563" indent="-214312">
              <a:lnSpc>
                <a:spcPct val="110000"/>
              </a:lnSpc>
              <a:spcBef>
                <a:spcPts val="0"/>
              </a:spcBef>
              <a:spcAft>
                <a:spcPts val="1125"/>
              </a:spcAft>
              <a:buChar char="•"/>
            </a:lvl4pPr>
            <a:lvl5pPr marL="1357313" indent="-214312">
              <a:lnSpc>
                <a:spcPct val="110000"/>
              </a:lnSpc>
              <a:spcBef>
                <a:spcPts val="0"/>
              </a:spcBef>
              <a:spcAft>
                <a:spcPts val="1125"/>
              </a:spcAft>
              <a:buChar char="•"/>
            </a:lvl5pPr>
            <a:lvl6pPr marL="1643063" indent="-214312">
              <a:lnSpc>
                <a:spcPct val="110000"/>
              </a:lnSpc>
              <a:spcBef>
                <a:spcPts val="0"/>
              </a:spcBef>
              <a:spcAft>
                <a:spcPts val="1125"/>
              </a:spcAft>
              <a:buChar char="•"/>
            </a:lvl6pPr>
            <a:lvl7pPr marL="1928813" indent="-214312">
              <a:lnSpc>
                <a:spcPct val="110000"/>
              </a:lnSpc>
              <a:spcBef>
                <a:spcPts val="0"/>
              </a:spcBef>
              <a:spcAft>
                <a:spcPts val="1125"/>
              </a:spcAft>
              <a:buChar char="•"/>
            </a:lvl7pPr>
            <a:lvl8pPr marL="2214563" indent="-214312">
              <a:lnSpc>
                <a:spcPct val="110000"/>
              </a:lnSpc>
              <a:spcBef>
                <a:spcPts val="0"/>
              </a:spcBef>
              <a:spcAft>
                <a:spcPts val="1125"/>
              </a:spcAft>
              <a:buChar char="•"/>
            </a:lvl8pPr>
            <a:lvl9pPr marL="2500313" indent="-214312">
              <a:lnSpc>
                <a:spcPct val="110000"/>
              </a:lnSpc>
              <a:spcBef>
                <a:spcPts val="0"/>
              </a:spcBef>
              <a:spcAft>
                <a:spcPts val="112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F8AB4BB-1B56-4025-A9FA-7A8BF179FC98}"/>
              </a:ext>
            </a:extLst>
          </p:cNvPr>
          <p:cNvSpPr>
            <a:spLocks xmlns:a="http://schemas.openxmlformats.org/drawingml/2006/main" noGrp="1"/>
          </p:cNvSpPr>
          <p:nvPr>
            <p:ph type="body" idx="2"/>
          </p:nvPr>
        </p:nvSpPr>
        <p:spPr>
          <a:xfrm xmlns:a="http://schemas.openxmlformats.org/drawingml/2006/main">
            <a:off x="6072188" y="2116667"/>
            <a:ext cx="4714875"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69" b="0">
                <a:solidFill>
                  <a:schemeClr val="tx1"/>
                </a:solidFill>
                <a:latin typeface="+mn-lt"/>
                <a:ea typeface="+mn-lt"/>
                <a:cs typeface="+mn-lt"/>
              </a:defRPr>
            </a:defPPr>
            <a:lvl1pPr marL="214313" indent="-214312">
              <a:lnSpc>
                <a:spcPct val="110000"/>
              </a:lnSpc>
              <a:spcBef>
                <a:spcPts val="0"/>
              </a:spcBef>
              <a:spcAft>
                <a:spcPts val="1125"/>
              </a:spcAft>
              <a:buChar char="•"/>
            </a:lvl1pPr>
            <a:lvl2pPr marL="500063" indent="-214312">
              <a:lnSpc>
                <a:spcPct val="110000"/>
              </a:lnSpc>
              <a:spcBef>
                <a:spcPts val="0"/>
              </a:spcBef>
              <a:spcAft>
                <a:spcPts val="1125"/>
              </a:spcAft>
              <a:buChar char="•"/>
            </a:lvl2pPr>
            <a:lvl3pPr marL="785813" indent="-214312">
              <a:lnSpc>
                <a:spcPct val="110000"/>
              </a:lnSpc>
              <a:spcBef>
                <a:spcPts val="0"/>
              </a:spcBef>
              <a:spcAft>
                <a:spcPts val="1125"/>
              </a:spcAft>
              <a:buChar char="•"/>
            </a:lvl3pPr>
            <a:lvl4pPr marL="1071563" indent="-214312">
              <a:lnSpc>
                <a:spcPct val="110000"/>
              </a:lnSpc>
              <a:spcBef>
                <a:spcPts val="0"/>
              </a:spcBef>
              <a:spcAft>
                <a:spcPts val="1125"/>
              </a:spcAft>
              <a:buChar char="•"/>
            </a:lvl4pPr>
            <a:lvl5pPr marL="1357313" indent="-214312">
              <a:lnSpc>
                <a:spcPct val="110000"/>
              </a:lnSpc>
              <a:spcBef>
                <a:spcPts val="0"/>
              </a:spcBef>
              <a:spcAft>
                <a:spcPts val="1125"/>
              </a:spcAft>
              <a:buChar char="•"/>
            </a:lvl5pPr>
            <a:lvl6pPr marL="1643063" indent="-214312">
              <a:lnSpc>
                <a:spcPct val="110000"/>
              </a:lnSpc>
              <a:spcBef>
                <a:spcPts val="0"/>
              </a:spcBef>
              <a:spcAft>
                <a:spcPts val="1125"/>
              </a:spcAft>
              <a:buChar char="•"/>
            </a:lvl6pPr>
            <a:lvl7pPr marL="1928813" indent="-214312">
              <a:lnSpc>
                <a:spcPct val="110000"/>
              </a:lnSpc>
              <a:spcBef>
                <a:spcPts val="0"/>
              </a:spcBef>
              <a:spcAft>
                <a:spcPts val="1125"/>
              </a:spcAft>
              <a:buChar char="•"/>
            </a:lvl7pPr>
            <a:lvl8pPr marL="2214563" indent="-214312">
              <a:lnSpc>
                <a:spcPct val="110000"/>
              </a:lnSpc>
              <a:spcBef>
                <a:spcPts val="0"/>
              </a:spcBef>
              <a:spcAft>
                <a:spcPts val="1125"/>
              </a:spcAft>
              <a:buChar char="•"/>
            </a:lvl8pPr>
            <a:lvl9pPr marL="2500313" indent="-214312">
              <a:lnSpc>
                <a:spcPct val="110000"/>
              </a:lnSpc>
              <a:spcBef>
                <a:spcPts val="0"/>
              </a:spcBef>
              <a:spcAft>
                <a:spcPts val="112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9BA2B4-55C9-405B-A7E5-B9ED9E016F0F}"/>
              </a:ext>
            </a:extLst>
          </p:cNvPr>
          <p:cNvSpPr>
            <a:spLocks xmlns:a="http://schemas.openxmlformats.org/drawingml/2006/main" noGrp="1"/>
          </p:cNvSpPr>
          <p:nvPr>
            <p:ph type="title" idx="0"/>
          </p:nvPr>
        </p:nvSpPr>
        <p:spPr>
          <a:xfrm xmlns:a="http://schemas.openxmlformats.org/drawingml/2006/main">
            <a:off x="642938" y="592667"/>
            <a:ext cx="10144125"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CCC80F-6AD5-40F1-BD60-DD11CF0960A7}"/>
              </a:ext>
            </a:extLst>
          </p:cNvPr>
          <p:cNvSpPr>
            <a:spLocks xmlns:a="http://schemas.openxmlformats.org/drawingml/2006/main" noGrp="1"/>
          </p:cNvSpPr>
          <p:nvPr>
            <p:ph type="body" idx="1"/>
          </p:nvPr>
        </p:nvSpPr>
        <p:spPr>
          <a:xfrm xmlns:a="http://schemas.openxmlformats.org/drawingml/2006/main">
            <a:off x="642938" y="2116667"/>
            <a:ext cx="4714875"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9" b="0">
                <a:solidFill>
                  <a:schemeClr val="tx1"/>
                </a:solidFill>
                <a:latin typeface="+mn-lt"/>
                <a:ea typeface="+mn-lt"/>
                <a:cs typeface="+mn-lt"/>
              </a:defRPr>
            </a:defPPr>
            <a:lvl1pPr marL="214313" indent="-214312">
              <a:lnSpc>
                <a:spcPct val="110000"/>
              </a:lnSpc>
              <a:spcBef>
                <a:spcPts val="0"/>
              </a:spcBef>
              <a:spcAft>
                <a:spcPts val="1125"/>
              </a:spcAft>
              <a:buChar char="•"/>
            </a:lvl1pPr>
            <a:lvl2pPr marL="500063" indent="-214312">
              <a:lnSpc>
                <a:spcPct val="110000"/>
              </a:lnSpc>
              <a:spcBef>
                <a:spcPts val="0"/>
              </a:spcBef>
              <a:spcAft>
                <a:spcPts val="1125"/>
              </a:spcAft>
              <a:buChar char="•"/>
            </a:lvl2pPr>
            <a:lvl3pPr marL="785813" indent="-214312">
              <a:lnSpc>
                <a:spcPct val="110000"/>
              </a:lnSpc>
              <a:spcBef>
                <a:spcPts val="0"/>
              </a:spcBef>
              <a:spcAft>
                <a:spcPts val="1125"/>
              </a:spcAft>
              <a:buChar char="•"/>
            </a:lvl3pPr>
            <a:lvl4pPr marL="1071563" indent="-214312">
              <a:lnSpc>
                <a:spcPct val="110000"/>
              </a:lnSpc>
              <a:spcBef>
                <a:spcPts val="0"/>
              </a:spcBef>
              <a:spcAft>
                <a:spcPts val="1125"/>
              </a:spcAft>
              <a:buChar char="•"/>
            </a:lvl4pPr>
            <a:lvl5pPr marL="1357313" indent="-214312">
              <a:lnSpc>
                <a:spcPct val="110000"/>
              </a:lnSpc>
              <a:spcBef>
                <a:spcPts val="0"/>
              </a:spcBef>
              <a:spcAft>
                <a:spcPts val="1125"/>
              </a:spcAft>
              <a:buChar char="•"/>
            </a:lvl5pPr>
            <a:lvl6pPr marL="1643063" indent="-214312">
              <a:lnSpc>
                <a:spcPct val="110000"/>
              </a:lnSpc>
              <a:spcBef>
                <a:spcPts val="0"/>
              </a:spcBef>
              <a:spcAft>
                <a:spcPts val="1125"/>
              </a:spcAft>
              <a:buChar char="•"/>
            </a:lvl6pPr>
            <a:lvl7pPr marL="1928813" indent="-214312">
              <a:lnSpc>
                <a:spcPct val="110000"/>
              </a:lnSpc>
              <a:spcBef>
                <a:spcPts val="0"/>
              </a:spcBef>
              <a:spcAft>
                <a:spcPts val="1125"/>
              </a:spcAft>
              <a:buChar char="•"/>
            </a:lvl7pPr>
            <a:lvl8pPr marL="2214563" indent="-214312">
              <a:lnSpc>
                <a:spcPct val="110000"/>
              </a:lnSpc>
              <a:spcBef>
                <a:spcPts val="0"/>
              </a:spcBef>
              <a:spcAft>
                <a:spcPts val="1125"/>
              </a:spcAft>
              <a:buChar char="•"/>
            </a:lvl8pPr>
            <a:lvl9pPr marL="2500313" indent="-214312">
              <a:lnSpc>
                <a:spcPct val="110000"/>
              </a:lnSpc>
              <a:spcBef>
                <a:spcPts val="0"/>
              </a:spcBef>
              <a:spcAft>
                <a:spcPts val="112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75f46afe1d469f" /><Relationship Type="http://schemas.openxmlformats.org/officeDocument/2006/relationships/slideLayout" Target="/ppt/slideLayouts/slideLayout1.xml" Id="Rd241c8765e9b4da6" /><Relationship Type="http://schemas.openxmlformats.org/officeDocument/2006/relationships/slideLayout" Target="/ppt/slideLayouts/slideLayout2.xml" Id="R9e89a09714b04067" /><Relationship Type="http://schemas.openxmlformats.org/officeDocument/2006/relationships/slideLayout" Target="/ppt/slideLayouts/slideLayout3.xml" Id="Rbb03effc7411455c" /><Relationship Type="http://schemas.openxmlformats.org/officeDocument/2006/relationships/slideLayout" Target="/ppt/slideLayouts/slideLayout4.xml" Id="Rc2cffec187514e7f" /><Relationship Type="http://schemas.openxmlformats.org/officeDocument/2006/relationships/slideLayout" Target="/ppt/slideLayouts/slideLayout5.xml" Id="Rc5fdd872ba544c75" /><Relationship Type="http://schemas.openxmlformats.org/officeDocument/2006/relationships/slideLayout" Target="/ppt/slideLayouts/slideLayout6.xml" Id="R514332ff99204d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41c8765e9b4da6"/>
    <p:sldLayoutId xmlns:r="http://schemas.openxmlformats.org/officeDocument/2006/relationships" id="2147483650" r:id="R9e89a09714b04067"/>
    <p:sldLayoutId xmlns:r="http://schemas.openxmlformats.org/officeDocument/2006/relationships" id="2147483651" r:id="Rbb03effc7411455c"/>
    <p:sldLayoutId xmlns:r="http://schemas.openxmlformats.org/officeDocument/2006/relationships" id="2147483652" r:id="Rc2cffec187514e7f"/>
    <p:sldLayoutId xmlns:r="http://schemas.openxmlformats.org/officeDocument/2006/relationships" id="2147483653" r:id="Rc5fdd872ba544c75"/>
    <p:sldLayoutId xmlns:r="http://schemas.openxmlformats.org/officeDocument/2006/relationships" id="2147483654" r:id="R514332ff99204d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urious Human">
      <a:dk1>
        <a:srgbClr val="20211E"/>
      </a:dk1>
      <a:lt1>
        <a:srgbClr val="FFFFFF"/>
      </a:lt1>
      <a:dk2>
        <a:srgbClr val="62665E"/>
      </a:dk2>
      <a:lt2>
        <a:srgbClr val="F6F5EF"/>
      </a:lt2>
      <a:accent1>
        <a:srgbClr val="2453FF"/>
      </a:accent1>
      <a:accent2>
        <a:srgbClr val="20211E"/>
      </a:accent2>
      <a:accent3>
        <a:srgbClr val="DDEF8B"/>
      </a:accent3>
      <a:accent4>
        <a:srgbClr val="ED4C32"/>
      </a:accent4>
      <a:accent5>
        <a:srgbClr val="51449B"/>
      </a:accent5>
      <a:accent6>
        <a:srgbClr val="184B38"/>
      </a:accent6>
      <a:hlink>
        <a:srgbClr val="2453FF"/>
      </a:hlink>
      <a:folHlink>
        <a:srgbClr val="2453FF"/>
      </a:folHlink>
    </a:clrScheme>
    <a:fontScheme name="">
      <a:majorFont>
        <a:latin typeface="Aptos"/>
        <a:ea typeface=""/>
        <a:cs typeface=""/>
      </a:majorFont>
      <a:minorFont>
        <a:latin typeface="Aptos"/>
        <a:ea typeface=""/>
        <a:cs typeface=""/>
      </a:minorFont>
    </a:fontScheme>
    <a:fmtScheme name="Curious Hu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771cb61c47473f" /><Relationship Type="http://schemas.openxmlformats.org/officeDocument/2006/relationships/image" Target="/ppt/media/image.png" Id="R8a5ef6b9a0c249e5" /><Relationship Type="http://schemas.openxmlformats.org/officeDocument/2006/relationships/notesSlide" Target="/ppt/notesSlides/notesSlide1.xml" Id="R536d1fe2e37043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df2cfa75b04096" /><Relationship Type="http://schemas.openxmlformats.org/officeDocument/2006/relationships/notesSlide" Target="/ppt/notesSlides/notesSlide2.xml" Id="R707c21623a874b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f7960551394e6a" /><Relationship Type="http://schemas.openxmlformats.org/officeDocument/2006/relationships/image" Target="/ppt/media/image2.png" Id="Rc5d54d98af814bf5" /><Relationship Type="http://schemas.openxmlformats.org/officeDocument/2006/relationships/notesSlide" Target="/ppt/notesSlides/notesSlide3.xml" Id="R7c01d17deb774e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870051c121c482b" /><Relationship Type="http://schemas.openxmlformats.org/officeDocument/2006/relationships/image" Target="/ppt/media/image3.png" Id="R10df8f9dccf94cd1" /><Relationship Type="http://schemas.openxmlformats.org/officeDocument/2006/relationships/notesSlide" Target="/ppt/notesSlides/notesSlide4.xml" Id="R1a52ccf908fd44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294a1834584d95" /><Relationship Type="http://schemas.openxmlformats.org/officeDocument/2006/relationships/image" Target="/ppt/media/image4.png" Id="Re6e96e1d1dea42ee" /><Relationship Type="http://schemas.openxmlformats.org/officeDocument/2006/relationships/notesSlide" Target="/ppt/notesSlides/notesSlide5.xml" Id="R2c87cb55239942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658643e40224387" /><Relationship Type="http://schemas.openxmlformats.org/officeDocument/2006/relationships/image" Target="/ppt/media/image5.png" Id="R4403f91f091e4ee2" /><Relationship Type="http://schemas.openxmlformats.org/officeDocument/2006/relationships/notesSlide" Target="/ppt/notesSlides/notesSlide6.xml" Id="Re02a26575af44a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2af3f256da4b92" /><Relationship Type="http://schemas.openxmlformats.org/officeDocument/2006/relationships/image" Target="/ppt/media/image6.png" Id="R3e0d00b35d5e49c3" /><Relationship Type="http://schemas.openxmlformats.org/officeDocument/2006/relationships/notesSlide" Target="/ppt/notesSlides/notesSlide7.xml" Id="Re3301e6714ce4e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c66d6071084653" /><Relationship Type="http://schemas.openxmlformats.org/officeDocument/2006/relationships/notesSlide" Target="/ppt/notesSlides/notesSlide8.xml" Id="Re3d72b93420345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fdd7017434142bc" /><Relationship Type="http://schemas.openxmlformats.org/officeDocument/2006/relationships/notesSlide" Target="/ppt/notesSlides/notesSlide9.xml" Id="Rb717e560e1de45c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48ce013158481a" /><Relationship Type="http://schemas.openxmlformats.org/officeDocument/2006/relationships/notesSlide" Target="/ppt/notesSlides/notesSlide10.xml" Id="Ra7248577223b4d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404a9e79e2c48b4" /><Relationship Type="http://schemas.openxmlformats.org/officeDocument/2006/relationships/notesSlide" Target="/ppt/notesSlides/notesSlide11.xml" Id="R1dc1fd8ca1d84419" /></Relationships>
</file>

<file path=ppt/slides/slide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Mark Renzo">
            <a:extLst xmlns:a="http://schemas.openxmlformats.org/drawingml/2006/main">
              <a:ext uri="{FF2B5EF4-FFF2-40B4-BE49-F238E27FC236}">
                <a16:creationId xmlns:a16="http://schemas.microsoft.com/office/drawing/2014/main" id="{1DEDD082-4762-4000-A882-E66949E15477}"/>
              </a:ext>
            </a:extLst>
          </p:cNvPr>
          <p:cNvSpPr>
            <a:spLocks xmlns:a="http://schemas.openxmlformats.org/drawingml/2006/main" noGrp="1"/>
          </p:cNvSpPr>
          <p:nvPr/>
        </p:nvSpPr>
        <p:spPr>
          <a:xfrm xmlns:a="http://schemas.openxmlformats.org/drawingml/2006/main">
            <a:off x="609600" y="838200"/>
            <a:ext cx="1000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400" b="1" i="0">
                <a:solidFill>
                  <a:srgbClr val="20211E"/>
                </a:solidFill>
                <a:latin typeface="Helvetica Neue"/>
                <a:ea typeface="Helvetica Neue"/>
                <a:cs typeface="Helvetica Neue"/>
              </a:defRPr>
            </a:defPPr>
          </a:lstStyle>
          <a:p xmlns:a="http://schemas.openxmlformats.org/drawingml/2006/main">
            <a:pPr>
              <a:defRPr sz="8400" b="1" i="0">
                <a:solidFill>
                  <a:srgbClr val="20211E"/>
                </a:solidFill>
                <a:latin typeface="Helvetica Neue"/>
                <a:ea typeface="Helvetica Neue"/>
                <a:cs typeface="Helvetica Neue"/>
              </a:defRPr>
            </a:pPr>
            <a:r>
              <a:rPr sz="8400" b="1" i="0">
                <a:solidFill>
                  <a:srgbClr val="20211E"/>
                </a:solidFill>
                <a:latin typeface="Helvetica Neue"/>
                <a:ea typeface="Helvetica Neue"/>
                <a:cs typeface="Helvetica Neue"/>
              </a:rPr>
              <a:t>Mark Renzo</a:t>
            </a:r>
          </a:p>
        </p:txBody>
      </p:sp>
      <p:sp>
        <p:nvSpPr>
          <p:cNvPr id="2" name="Five ways to&#10;make your mark">
            <a:extLst xmlns:a="http://schemas.openxmlformats.org/drawingml/2006/main">
              <a:ext uri="{FF2B5EF4-FFF2-40B4-BE49-F238E27FC236}">
                <a16:creationId xmlns:a16="http://schemas.microsoft.com/office/drawing/2014/main" id="{43407797-44E4-4B08-A487-C5D246D21D55}"/>
              </a:ext>
            </a:extLst>
          </p:cNvPr>
          <p:cNvSpPr>
            <a:spLocks xmlns:a="http://schemas.openxmlformats.org/drawingml/2006/main" noGrp="1"/>
          </p:cNvSpPr>
          <p:nvPr/>
        </p:nvSpPr>
        <p:spPr>
          <a:xfrm xmlns:a="http://schemas.openxmlformats.org/drawingml/2006/main">
            <a:off x="638175" y="2543175"/>
            <a:ext cx="6572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950" b="0" i="0">
                <a:solidFill>
                  <a:srgbClr val="20211E"/>
                </a:solidFill>
                <a:latin typeface="Georgia"/>
                <a:ea typeface="Georgia"/>
                <a:cs typeface="Georgia"/>
              </a:defRPr>
            </a:defPPr>
          </a:lstStyle>
          <a:p xmlns:a="http://schemas.openxmlformats.org/drawingml/2006/main">
            <a:pPr>
              <a:defRPr sz="4950" b="0" i="0">
                <a:solidFill>
                  <a:srgbClr val="20211E"/>
                </a:solidFill>
                <a:latin typeface="Georgia"/>
                <a:ea typeface="Georgia"/>
                <a:cs typeface="Georgia"/>
              </a:defRPr>
            </a:pPr>
            <a:r>
              <a:rPr sz="4950" b="0" i="0">
                <a:solidFill>
                  <a:srgbClr val="20211E"/>
                </a:solidFill>
                <a:latin typeface="Georgia"/>
                <a:ea typeface="Georgia"/>
                <a:cs typeface="Georgia"/>
              </a:rPr>
              <a:t>Five ways to</a:t>
            </a:r>
          </a:p>
          <a:p xmlns:a="http://schemas.openxmlformats.org/drawingml/2006/main">
            <a:pPr>
              <a:defRPr sz="4950" b="0" i="0">
                <a:solidFill>
                  <a:srgbClr val="20211E"/>
                </a:solidFill>
                <a:latin typeface="Georgia"/>
                <a:ea typeface="Georgia"/>
                <a:cs typeface="Georgia"/>
              </a:defRPr>
            </a:pPr>
            <a:r>
              <a:rPr sz="4950" b="0" i="0">
                <a:solidFill>
                  <a:srgbClr val="20211E"/>
                </a:solidFill>
                <a:latin typeface="Georgia"/>
                <a:ea typeface="Georgia"/>
                <a:cs typeface="Georgia"/>
              </a:rPr>
              <a:t>make your mark</a:t>
            </a:r>
          </a:p>
        </p:txBody>
      </p:sp>
      <p:sp>
        <p:nvSpPr>
          <p:cNvPr id="3" name="Personal brand &amp; logo directions">
            <a:extLst xmlns:a="http://schemas.openxmlformats.org/drawingml/2006/main">
              <a:ext uri="{FF2B5EF4-FFF2-40B4-BE49-F238E27FC236}">
                <a16:creationId xmlns:a16="http://schemas.microsoft.com/office/drawing/2014/main" id="{F5700EE2-004F-438D-B473-18CF77579B8D}"/>
              </a:ext>
            </a:extLst>
          </p:cNvPr>
          <p:cNvSpPr>
            <a:spLocks xmlns:a="http://schemas.openxmlformats.org/drawingml/2006/main" noGrp="1"/>
          </p:cNvSpPr>
          <p:nvPr/>
        </p:nvSpPr>
        <p:spPr>
          <a:xfrm xmlns:a="http://schemas.openxmlformats.org/drawingml/2006/main">
            <a:off x="657225" y="5153025"/>
            <a:ext cx="604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i="0">
                <a:solidFill>
                  <a:srgbClr val="62665E"/>
                </a:solidFill>
                <a:latin typeface="Helvetica Neue"/>
                <a:ea typeface="Helvetica Neue"/>
                <a:cs typeface="Helvetica Neue"/>
              </a:defRPr>
            </a:defPPr>
          </a:lstStyle>
          <a:p xmlns:a="http://schemas.openxmlformats.org/drawingml/2006/main">
            <a:pPr>
              <a:defRPr sz="2025" b="0" i="0">
                <a:solidFill>
                  <a:srgbClr val="62665E"/>
                </a:solidFill>
                <a:latin typeface="Helvetica Neue"/>
                <a:ea typeface="Helvetica Neue"/>
                <a:cs typeface="Helvetica Neue"/>
              </a:defRPr>
            </a:pPr>
            <a:r>
              <a:rPr sz="2025" b="0" i="0">
                <a:solidFill>
                  <a:srgbClr val="62665E"/>
                </a:solidFill>
                <a:latin typeface="Helvetica Neue"/>
                <a:ea typeface="Helvetica Neue"/>
                <a:cs typeface="Helvetica Neue"/>
              </a:rPr>
              <a:t>Personal brand &amp; logo directions</a:t>
            </a:r>
          </a:p>
        </p:txBody>
      </p:sp>
      <p:sp>
        <p:nvSpPr>
          <p:cNvPr id="4" name="October 2026">
            <a:extLst xmlns:a="http://schemas.openxmlformats.org/drawingml/2006/main">
              <a:ext uri="{FF2B5EF4-FFF2-40B4-BE49-F238E27FC236}">
                <a16:creationId xmlns:a16="http://schemas.microsoft.com/office/drawing/2014/main" id="{F0C4BAFF-EBD8-4A20-859E-ABE5D41298E3}"/>
              </a:ext>
            </a:extLst>
          </p:cNvPr>
          <p:cNvSpPr>
            <a:spLocks xmlns:a="http://schemas.openxmlformats.org/drawingml/2006/main" noGrp="1"/>
          </p:cNvSpPr>
          <p:nvPr/>
        </p:nvSpPr>
        <p:spPr>
          <a:xfrm xmlns:a="http://schemas.openxmlformats.org/drawingml/2006/main">
            <a:off x="657225" y="683895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i="0">
                <a:solidFill>
                  <a:srgbClr val="62665E"/>
                </a:solidFill>
                <a:latin typeface="Helvetica Neue"/>
                <a:ea typeface="Helvetica Neue"/>
                <a:cs typeface="Helvetica Neue"/>
              </a:defRPr>
            </a:defPPr>
          </a:lstStyle>
          <a:p xmlns:a="http://schemas.openxmlformats.org/drawingml/2006/main">
            <a:pPr>
              <a:defRPr sz="1650" b="0" i="0">
                <a:solidFill>
                  <a:srgbClr val="62665E"/>
                </a:solidFill>
                <a:latin typeface="Helvetica Neue"/>
                <a:ea typeface="Helvetica Neue"/>
                <a:cs typeface="Helvetica Neue"/>
              </a:defRPr>
            </a:pPr>
            <a:r>
              <a:rPr sz="1650" b="0" i="0">
                <a:solidFill>
                  <a:srgbClr val="62665E"/>
                </a:solidFill>
                <a:latin typeface="Helvetica Neue"/>
                <a:ea typeface="Helvetica Neue"/>
                <a:cs typeface="Helvetica Neue"/>
              </a:rPr>
              <a:t>October 2026</a:t>
            </a:r>
          </a:p>
        </p:txBody>
      </p:sp>
      <p:pic>
        <p:nvPicPr>
          <p:cNvPr id="5" name="">
            <a:extLst xmlns:a="http://schemas.openxmlformats.org/drawingml/2006/main">
              <a:ext uri="{FF2B5EF4-FFF2-40B4-BE49-F238E27FC236}">
                <a16:creationId xmlns:a16="http://schemas.microsoft.com/office/drawing/2014/main" id="{E190E563-253F-4EBB-B508-F12D213D22F5}"/>
              </a:ext>
            </a:extLst>
          </p:cNvPr>
          <p:cNvPicPr>
            <a:picLocks xmlns:a="http://schemas.openxmlformats.org/drawingml/2006/main" noChangeAspect="1"/>
          </p:cNvPicPr>
          <p:nvPr/>
        </p:nvPicPr>
        <p:blipFill>
          <a:blip xmlns:r="http://schemas.openxmlformats.org/officeDocument/2006/relationships" xmlns:a="http://schemas.openxmlformats.org/drawingml/2006/main" r:embed="R8a5ef6b9a0c249e5"/>
          <a:stretch xmlns:a="http://schemas.openxmlformats.org/drawingml/2006/main"/>
        </p:blipFill>
        <p:spPr>
          <a:xfrm xmlns:a="http://schemas.openxmlformats.org/drawingml/2006/main">
            <a:off x="7000875" y="2943225"/>
            <a:ext cx="4429125" cy="4429125"/>
          </a:xfrm>
          <a:prstGeom xmlns:a="http://schemas.openxmlformats.org/drawingml/2006/main" prst="rect">
            <a:avLst/>
          </a:prstGeom>
        </p:spPr>
      </p:pic>
    </p:spTree>
    <p:extLst>
      <p:ext uri="{BB962C8B-B14F-4D97-AF65-F5344CB8AC3E}">
        <p14:creationId xmlns:p14="http://schemas.microsoft.com/office/powerpoint/2010/main" val="595186935"/>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The same human in every direction">
            <a:extLst xmlns:a="http://schemas.openxmlformats.org/drawingml/2006/main">
              <a:ext uri="{FF2B5EF4-FFF2-40B4-BE49-F238E27FC236}">
                <a16:creationId xmlns:a16="http://schemas.microsoft.com/office/drawing/2014/main" id="{1843DE29-4F29-4F66-BA77-2CD5BD8C8053}"/>
              </a:ext>
            </a:extLst>
          </p:cNvPr>
          <p:cNvSpPr>
            <a:spLocks xmlns:a="http://schemas.openxmlformats.org/drawingml/2006/main" noGrp="1"/>
          </p:cNvSpPr>
          <p:nvPr/>
        </p:nvSpPr>
        <p:spPr>
          <a:xfrm xmlns:a="http://schemas.openxmlformats.org/drawingml/2006/main">
            <a:off x="609600" y="590550"/>
            <a:ext cx="1021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350" b="1" i="0">
                <a:solidFill>
                  <a:srgbClr val="20211E"/>
                </a:solidFill>
                <a:latin typeface="Helvetica Neue"/>
                <a:ea typeface="Helvetica Neue"/>
                <a:cs typeface="Helvetica Neue"/>
              </a:defRPr>
            </a:defPPr>
          </a:lstStyle>
          <a:p xmlns:a="http://schemas.openxmlformats.org/drawingml/2006/main">
            <a:pPr>
              <a:defRPr sz="4350" b="1" i="0">
                <a:solidFill>
                  <a:srgbClr val="20211E"/>
                </a:solidFill>
                <a:latin typeface="Helvetica Neue"/>
                <a:ea typeface="Helvetica Neue"/>
                <a:cs typeface="Helvetica Neue"/>
              </a:defRPr>
            </a:pPr>
            <a:r>
              <a:rPr sz="4350" b="1" i="0">
                <a:solidFill>
                  <a:srgbClr val="20211E"/>
                </a:solidFill>
                <a:latin typeface="Helvetica Neue"/>
                <a:ea typeface="Helvetica Neue"/>
                <a:cs typeface="Helvetica Neue"/>
              </a:rPr>
              <a:t>The same human in every direction</a:t>
            </a:r>
          </a:p>
        </p:txBody>
      </p:sp>
      <p:sp>
        <p:nvSpPr>
          <p:cNvPr id="2" name="Creative&#10;technologist.&#10;AI specialis">
            <a:extLst xmlns:a="http://schemas.openxmlformats.org/drawingml/2006/main">
              <a:ext uri="{FF2B5EF4-FFF2-40B4-BE49-F238E27FC236}">
                <a16:creationId xmlns:a16="http://schemas.microsoft.com/office/drawing/2014/main" id="{E620DF7C-3EE6-4A10-9F02-5083AD0EB1A2}"/>
              </a:ext>
            </a:extLst>
          </p:cNvPr>
          <p:cNvSpPr>
            <a:spLocks xmlns:a="http://schemas.openxmlformats.org/drawingml/2006/main" noGrp="1"/>
          </p:cNvSpPr>
          <p:nvPr/>
        </p:nvSpPr>
        <p:spPr>
          <a:xfrm xmlns:a="http://schemas.openxmlformats.org/drawingml/2006/main">
            <a:off x="609600" y="2381250"/>
            <a:ext cx="4714875"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0" i="0">
                <a:solidFill>
                  <a:srgbClr val="20211E"/>
                </a:solidFill>
                <a:latin typeface="Georgia"/>
                <a:ea typeface="Georgia"/>
                <a:cs typeface="Georgia"/>
              </a:defRPr>
            </a:defPPr>
          </a:lstStyle>
          <a:p xmlns:a="http://schemas.openxmlformats.org/drawingml/2006/main">
            <a:pPr>
              <a:defRPr sz="4650" b="0" i="0">
                <a:solidFill>
                  <a:srgbClr val="20211E"/>
                </a:solidFill>
                <a:latin typeface="Georgia"/>
                <a:ea typeface="Georgia"/>
                <a:cs typeface="Georgia"/>
              </a:defRPr>
            </a:pPr>
            <a:r>
              <a:rPr sz="4650" b="0" i="0">
                <a:solidFill>
                  <a:srgbClr val="20211E"/>
                </a:solidFill>
                <a:latin typeface="Georgia"/>
                <a:ea typeface="Georgia"/>
                <a:cs typeface="Georgia"/>
              </a:rPr>
              <a:t>Creative</a:t>
            </a:r>
          </a:p>
          <a:p xmlns:a="http://schemas.openxmlformats.org/drawingml/2006/main">
            <a:pPr>
              <a:defRPr sz="4650" b="0" i="0">
                <a:solidFill>
                  <a:srgbClr val="20211E"/>
                </a:solidFill>
                <a:latin typeface="Georgia"/>
                <a:ea typeface="Georgia"/>
                <a:cs typeface="Georgia"/>
              </a:defRPr>
            </a:pPr>
            <a:r>
              <a:rPr sz="4650" b="0" i="0">
                <a:solidFill>
                  <a:srgbClr val="20211E"/>
                </a:solidFill>
                <a:latin typeface="Georgia"/>
                <a:ea typeface="Georgia"/>
                <a:cs typeface="Georgia"/>
              </a:rPr>
              <a:t>technologist.</a:t>
            </a:r>
          </a:p>
          <a:p xmlns:a="http://schemas.openxmlformats.org/drawingml/2006/main">
            <a:pPr>
              <a:defRPr sz="4650" b="0" i="0">
                <a:solidFill>
                  <a:srgbClr val="20211E"/>
                </a:solidFill>
                <a:latin typeface="Georgia"/>
                <a:ea typeface="Georgia"/>
                <a:cs typeface="Georgia"/>
              </a:defRPr>
            </a:pPr>
            <a:r>
              <a:rPr sz="4650" b="0" i="0">
                <a:solidFill>
                  <a:srgbClr val="20211E"/>
                </a:solidFill>
                <a:latin typeface="Georgia"/>
                <a:ea typeface="Georgia"/>
                <a:cs typeface="Georgia"/>
              </a:rPr>
              <a:t>AI specialist.</a:t>
            </a:r>
          </a:p>
        </p:txBody>
      </p:sp>
      <p:sp>
        <p:nvSpPr>
          <p:cNvPr id="3" name="Human curiosity">
            <a:extLst xmlns:a="http://schemas.openxmlformats.org/drawingml/2006/main">
              <a:ext uri="{FF2B5EF4-FFF2-40B4-BE49-F238E27FC236}">
                <a16:creationId xmlns:a16="http://schemas.microsoft.com/office/drawing/2014/main" id="{48D0A9EC-1205-4297-820C-A78DDE80F526}"/>
              </a:ext>
            </a:extLst>
          </p:cNvPr>
          <p:cNvSpPr>
            <a:spLocks xmlns:a="http://schemas.openxmlformats.org/drawingml/2006/main" noGrp="1"/>
          </p:cNvSpPr>
          <p:nvPr/>
        </p:nvSpPr>
        <p:spPr>
          <a:xfrm xmlns:a="http://schemas.openxmlformats.org/drawingml/2006/main">
            <a:off x="5810250" y="2362200"/>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i="0">
                <a:solidFill>
                  <a:srgbClr val="20211E"/>
                </a:solidFill>
                <a:latin typeface="Helvetica Neue"/>
                <a:ea typeface="Helvetica Neue"/>
                <a:cs typeface="Helvetica Neue"/>
              </a:defRPr>
            </a:defPPr>
          </a:lstStyle>
          <a:p xmlns:a="http://schemas.openxmlformats.org/drawingml/2006/main">
            <a:pPr>
              <a:defRPr sz="2250" b="1" i="0">
                <a:solidFill>
                  <a:srgbClr val="20211E"/>
                </a:solidFill>
                <a:latin typeface="Helvetica Neue"/>
                <a:ea typeface="Helvetica Neue"/>
                <a:cs typeface="Helvetica Neue"/>
              </a:defRPr>
            </a:pPr>
            <a:r>
              <a:rPr sz="2250" b="1" i="0">
                <a:solidFill>
                  <a:srgbClr val="20211E"/>
                </a:solidFill>
                <a:latin typeface="Helvetica Neue"/>
                <a:ea typeface="Helvetica Neue"/>
                <a:cs typeface="Helvetica Neue"/>
              </a:rPr>
              <a:t>Human curiosity</a:t>
            </a:r>
          </a:p>
        </p:txBody>
      </p:sp>
      <p:sp>
        <p:nvSpPr>
          <p:cNvPr id="4" name="Your projects and personal life giv">
            <a:extLst xmlns:a="http://schemas.openxmlformats.org/drawingml/2006/main">
              <a:ext uri="{FF2B5EF4-FFF2-40B4-BE49-F238E27FC236}">
                <a16:creationId xmlns:a16="http://schemas.microsoft.com/office/drawing/2014/main" id="{899230F9-F647-496C-B9A6-C94B7F4D6A3D}"/>
              </a:ext>
            </a:extLst>
          </p:cNvPr>
          <p:cNvSpPr>
            <a:spLocks xmlns:a="http://schemas.openxmlformats.org/drawingml/2006/main" noGrp="1"/>
          </p:cNvSpPr>
          <p:nvPr/>
        </p:nvSpPr>
        <p:spPr>
          <a:xfrm xmlns:a="http://schemas.openxmlformats.org/drawingml/2006/main">
            <a:off x="5810250" y="2847975"/>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i="0">
                <a:solidFill>
                  <a:srgbClr val="62665E"/>
                </a:solidFill>
                <a:latin typeface="Helvetica Neue"/>
                <a:ea typeface="Helvetica Neue"/>
                <a:cs typeface="Helvetica Neue"/>
              </a:defRPr>
            </a:defPPr>
          </a:lstStyle>
          <a:p xmlns:a="http://schemas.openxmlformats.org/drawingml/2006/main">
            <a:pPr>
              <a:defRPr sz="1875" b="0" i="0">
                <a:solidFill>
                  <a:srgbClr val="62665E"/>
                </a:solidFill>
                <a:latin typeface="Helvetica Neue"/>
                <a:ea typeface="Helvetica Neue"/>
                <a:cs typeface="Helvetica Neue"/>
              </a:defRPr>
            </a:pPr>
            <a:r>
              <a:rPr sz="1875" b="0" i="0">
                <a:solidFill>
                  <a:srgbClr val="62665E"/>
                </a:solidFill>
                <a:latin typeface="Helvetica Neue"/>
                <a:ea typeface="Helvetica Neue"/>
                <a:cs typeface="Helvetica Neue"/>
              </a:rPr>
              <a:t>Your projects and personal life give the</a:t>
            </a:r>
          </a:p>
          <a:p xmlns:a="http://schemas.openxmlformats.org/drawingml/2006/main">
            <a:pPr>
              <a:defRPr sz="1875" b="0" i="0">
                <a:solidFill>
                  <a:srgbClr val="62665E"/>
                </a:solidFill>
                <a:latin typeface="Helvetica Neue"/>
                <a:ea typeface="Helvetica Neue"/>
                <a:cs typeface="Helvetica Neue"/>
              </a:defRPr>
            </a:pPr>
            <a:r>
              <a:rPr sz="1875" b="0" i="0">
                <a:solidFill>
                  <a:srgbClr val="62665E"/>
                </a:solidFill>
                <a:latin typeface="Helvetica Neue"/>
                <a:ea typeface="Helvetica Neue"/>
                <a:cs typeface="Helvetica Neue"/>
              </a:rPr>
              <a:t>site something real to talk about.</a:t>
            </a:r>
          </a:p>
        </p:txBody>
      </p:sp>
      <p:sp>
        <p:nvSpPr>
          <p:cNvPr id="5" name="Practical usefulness">
            <a:extLst xmlns:a="http://schemas.openxmlformats.org/drawingml/2006/main">
              <a:ext uri="{FF2B5EF4-FFF2-40B4-BE49-F238E27FC236}">
                <a16:creationId xmlns:a16="http://schemas.microsoft.com/office/drawing/2014/main" id="{2B644260-F5A1-4DAD-9E62-64FAEEEF1252}"/>
              </a:ext>
            </a:extLst>
          </p:cNvPr>
          <p:cNvSpPr>
            <a:spLocks xmlns:a="http://schemas.openxmlformats.org/drawingml/2006/main" noGrp="1"/>
          </p:cNvSpPr>
          <p:nvPr/>
        </p:nvSpPr>
        <p:spPr>
          <a:xfrm xmlns:a="http://schemas.openxmlformats.org/drawingml/2006/main">
            <a:off x="5810250" y="3790950"/>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i="0">
                <a:solidFill>
                  <a:srgbClr val="20211E"/>
                </a:solidFill>
                <a:latin typeface="Helvetica Neue"/>
                <a:ea typeface="Helvetica Neue"/>
                <a:cs typeface="Helvetica Neue"/>
              </a:defRPr>
            </a:defPPr>
          </a:lstStyle>
          <a:p xmlns:a="http://schemas.openxmlformats.org/drawingml/2006/main">
            <a:pPr>
              <a:defRPr sz="2250" b="1" i="0">
                <a:solidFill>
                  <a:srgbClr val="20211E"/>
                </a:solidFill>
                <a:latin typeface="Helvetica Neue"/>
                <a:ea typeface="Helvetica Neue"/>
                <a:cs typeface="Helvetica Neue"/>
              </a:defRPr>
            </a:pPr>
            <a:r>
              <a:rPr sz="2250" b="1" i="0">
                <a:solidFill>
                  <a:srgbClr val="20211E"/>
                </a:solidFill>
                <a:latin typeface="Helvetica Neue"/>
                <a:ea typeface="Helvetica Neue"/>
                <a:cs typeface="Helvetica Neue"/>
              </a:rPr>
              <a:t>Practical usefulness</a:t>
            </a:r>
          </a:p>
        </p:txBody>
      </p:sp>
      <p:sp>
        <p:nvSpPr>
          <p:cNvPr id="6" name="The AI helps visitors explore your ">
            <a:extLst xmlns:a="http://schemas.openxmlformats.org/drawingml/2006/main">
              <a:ext uri="{FF2B5EF4-FFF2-40B4-BE49-F238E27FC236}">
                <a16:creationId xmlns:a16="http://schemas.microsoft.com/office/drawing/2014/main" id="{5BA6B7B8-463B-4398-BF39-03D18E6F0A1A}"/>
              </a:ext>
            </a:extLst>
          </p:cNvPr>
          <p:cNvSpPr>
            <a:spLocks xmlns:a="http://schemas.openxmlformats.org/drawingml/2006/main" noGrp="1"/>
          </p:cNvSpPr>
          <p:nvPr/>
        </p:nvSpPr>
        <p:spPr>
          <a:xfrm xmlns:a="http://schemas.openxmlformats.org/drawingml/2006/main">
            <a:off x="5810250" y="4276725"/>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i="0">
                <a:solidFill>
                  <a:srgbClr val="62665E"/>
                </a:solidFill>
                <a:latin typeface="Helvetica Neue"/>
                <a:ea typeface="Helvetica Neue"/>
                <a:cs typeface="Helvetica Neue"/>
              </a:defRPr>
            </a:defPPr>
          </a:lstStyle>
          <a:p xmlns:a="http://schemas.openxmlformats.org/drawingml/2006/main">
            <a:pPr>
              <a:defRPr sz="1875" b="0" i="0">
                <a:solidFill>
                  <a:srgbClr val="62665E"/>
                </a:solidFill>
                <a:latin typeface="Helvetica Neue"/>
                <a:ea typeface="Helvetica Neue"/>
                <a:cs typeface="Helvetica Neue"/>
              </a:defRPr>
            </a:pPr>
            <a:r>
              <a:rPr sz="1875" b="0" i="0">
                <a:solidFill>
                  <a:srgbClr val="62665E"/>
                </a:solidFill>
                <a:latin typeface="Helvetica Neue"/>
                <a:ea typeface="Helvetica Neue"/>
                <a:cs typeface="Helvetica Neue"/>
              </a:rPr>
              <a:t>The AI helps visitors explore your work</a:t>
            </a:r>
          </a:p>
          <a:p xmlns:a="http://schemas.openxmlformats.org/drawingml/2006/main">
            <a:pPr>
              <a:defRPr sz="1875" b="0" i="0">
                <a:solidFill>
                  <a:srgbClr val="62665E"/>
                </a:solidFill>
                <a:latin typeface="Helvetica Neue"/>
                <a:ea typeface="Helvetica Neue"/>
                <a:cs typeface="Helvetica Neue"/>
              </a:defRPr>
            </a:pPr>
            <a:r>
              <a:rPr sz="1875" b="0" i="0">
                <a:solidFill>
                  <a:srgbClr val="62665E"/>
                </a:solidFill>
                <a:latin typeface="Helvetica Neue"/>
                <a:ea typeface="Helvetica Neue"/>
                <a:cs typeface="Helvetica Neue"/>
              </a:rPr>
              <a:t>and imagine what you could build for them.</a:t>
            </a:r>
          </a:p>
        </p:txBody>
      </p:sp>
      <p:sp>
        <p:nvSpPr>
          <p:cNvPr id="7" name="Friendly quirks">
            <a:extLst xmlns:a="http://schemas.openxmlformats.org/drawingml/2006/main">
              <a:ext uri="{FF2B5EF4-FFF2-40B4-BE49-F238E27FC236}">
                <a16:creationId xmlns:a16="http://schemas.microsoft.com/office/drawing/2014/main" id="{7CED2422-9F58-4CCE-83F2-DAAFCB21C295}"/>
              </a:ext>
            </a:extLst>
          </p:cNvPr>
          <p:cNvSpPr>
            <a:spLocks xmlns:a="http://schemas.openxmlformats.org/drawingml/2006/main" noGrp="1"/>
          </p:cNvSpPr>
          <p:nvPr/>
        </p:nvSpPr>
        <p:spPr>
          <a:xfrm xmlns:a="http://schemas.openxmlformats.org/drawingml/2006/main">
            <a:off x="5810250" y="5219700"/>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i="0">
                <a:solidFill>
                  <a:srgbClr val="20211E"/>
                </a:solidFill>
                <a:latin typeface="Helvetica Neue"/>
                <a:ea typeface="Helvetica Neue"/>
                <a:cs typeface="Helvetica Neue"/>
              </a:defRPr>
            </a:defPPr>
          </a:lstStyle>
          <a:p xmlns:a="http://schemas.openxmlformats.org/drawingml/2006/main">
            <a:pPr>
              <a:defRPr sz="2250" b="1" i="0">
                <a:solidFill>
                  <a:srgbClr val="20211E"/>
                </a:solidFill>
                <a:latin typeface="Helvetica Neue"/>
                <a:ea typeface="Helvetica Neue"/>
                <a:cs typeface="Helvetica Neue"/>
              </a:defRPr>
            </a:pPr>
            <a:r>
              <a:rPr sz="2250" b="1" i="0">
                <a:solidFill>
                  <a:srgbClr val="20211E"/>
                </a:solidFill>
                <a:latin typeface="Helvetica Neue"/>
                <a:ea typeface="Helvetica Neue"/>
                <a:cs typeface="Helvetica Neue"/>
              </a:rPr>
              <a:t>Friendly quirks</a:t>
            </a:r>
          </a:p>
        </p:txBody>
      </p:sp>
      <p:sp>
        <p:nvSpPr>
          <p:cNvPr id="8" name="Photo stickers, playful copy and to">
            <a:extLst xmlns:a="http://schemas.openxmlformats.org/drawingml/2006/main">
              <a:ext uri="{FF2B5EF4-FFF2-40B4-BE49-F238E27FC236}">
                <a16:creationId xmlns:a16="http://schemas.microsoft.com/office/drawing/2014/main" id="{2CB16F17-D36A-47CF-BBA4-84D12DC6B36C}"/>
              </a:ext>
            </a:extLst>
          </p:cNvPr>
          <p:cNvSpPr>
            <a:spLocks xmlns:a="http://schemas.openxmlformats.org/drawingml/2006/main" noGrp="1"/>
          </p:cNvSpPr>
          <p:nvPr/>
        </p:nvSpPr>
        <p:spPr>
          <a:xfrm xmlns:a="http://schemas.openxmlformats.org/drawingml/2006/main">
            <a:off x="5810250" y="5705475"/>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i="0">
                <a:solidFill>
                  <a:srgbClr val="62665E"/>
                </a:solidFill>
                <a:latin typeface="Helvetica Neue"/>
                <a:ea typeface="Helvetica Neue"/>
                <a:cs typeface="Helvetica Neue"/>
              </a:defRPr>
            </a:defPPr>
          </a:lstStyle>
          <a:p xmlns:a="http://schemas.openxmlformats.org/drawingml/2006/main">
            <a:pPr>
              <a:defRPr sz="1875" b="0" i="0">
                <a:solidFill>
                  <a:srgbClr val="62665E"/>
                </a:solidFill>
                <a:latin typeface="Helvetica Neue"/>
                <a:ea typeface="Helvetica Neue"/>
                <a:cs typeface="Helvetica Neue"/>
              </a:defRPr>
            </a:pPr>
            <a:r>
              <a:rPr sz="1875" b="0" i="0">
                <a:solidFill>
                  <a:srgbClr val="62665E"/>
                </a:solidFill>
                <a:latin typeface="Helvetica Neue"/>
                <a:ea typeface="Helvetica Neue"/>
                <a:cs typeface="Helvetica Neue"/>
              </a:rPr>
              <a:t>Photo stickers, playful copy and touchable</a:t>
            </a:r>
          </a:p>
          <a:p xmlns:a="http://schemas.openxmlformats.org/drawingml/2006/main">
            <a:pPr>
              <a:defRPr sz="1875" b="0" i="0">
                <a:solidFill>
                  <a:srgbClr val="62665E"/>
                </a:solidFill>
                <a:latin typeface="Helvetica Neue"/>
                <a:ea typeface="Helvetica Neue"/>
                <a:cs typeface="Helvetica Neue"/>
              </a:defRPr>
            </a:pPr>
            <a:r>
              <a:rPr sz="1875" b="0" i="0">
                <a:solidFill>
                  <a:srgbClr val="62665E"/>
                </a:solidFill>
                <a:latin typeface="Helvetica Neue"/>
                <a:ea typeface="Helvetica Neue"/>
                <a:cs typeface="Helvetica Neue"/>
              </a:rPr>
              <a:t>objects make room for a little surprise.</a:t>
            </a:r>
          </a:p>
        </p:txBody>
      </p:sp>
      <p:sp>
        <p:nvSpPr>
          <p:cNvPr id="9" name="Mark Renzo / Brand directions">
            <a:extLst xmlns:a="http://schemas.openxmlformats.org/drawingml/2006/main">
              <a:ext uri="{FF2B5EF4-FFF2-40B4-BE49-F238E27FC236}">
                <a16:creationId xmlns:a16="http://schemas.microsoft.com/office/drawing/2014/main" id="{CC37CADB-1B24-4B8E-B5C1-BFC29FF6375F}"/>
              </a:ext>
            </a:extLst>
          </p:cNvPr>
          <p:cNvSpPr>
            <a:spLocks xmlns:a="http://schemas.openxmlformats.org/drawingml/2006/main" noGrp="1"/>
          </p:cNvSpPr>
          <p:nvPr/>
        </p:nvSpPr>
        <p:spPr>
          <a:xfrm xmlns:a="http://schemas.openxmlformats.org/drawingml/2006/main">
            <a:off x="609600" y="7181850"/>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i="0">
                <a:solidFill>
                  <a:srgbClr val="62665E"/>
                </a:solidFill>
                <a:latin typeface="Helvetica Neue"/>
                <a:ea typeface="Helvetica Neue"/>
                <a:cs typeface="Helvetica Neue"/>
              </a:defRPr>
            </a:defPPr>
          </a:lstStyle>
          <a:p xmlns:a="http://schemas.openxmlformats.org/drawingml/2006/main">
            <a:pPr>
              <a:defRPr sz="1275" b="0" i="0">
                <a:solidFill>
                  <a:srgbClr val="62665E"/>
                </a:solidFill>
                <a:latin typeface="Helvetica Neue"/>
                <a:ea typeface="Helvetica Neue"/>
                <a:cs typeface="Helvetica Neue"/>
              </a:defRPr>
            </a:pPr>
            <a:r>
              <a:rPr sz="1275" b="0" i="0">
                <a:solidFill>
                  <a:srgbClr val="62665E"/>
                </a:solidFill>
                <a:latin typeface="Helvetica Neue"/>
                <a:ea typeface="Helvetica Neue"/>
                <a:cs typeface="Helvetica Neue"/>
              </a:rPr>
              <a:t>Mark Renzo / Brand directions</a:t>
            </a:r>
          </a:p>
        </p:txBody>
      </p:sp>
      <p:sp>
        <p:nvSpPr>
          <p:cNvPr id="10" name="02">
            <a:extLst xmlns:a="http://schemas.openxmlformats.org/drawingml/2006/main">
              <a:ext uri="{FF2B5EF4-FFF2-40B4-BE49-F238E27FC236}">
                <a16:creationId xmlns:a16="http://schemas.microsoft.com/office/drawing/2014/main" id="{35D20B46-800F-42E1-90E2-E9B0C8B9FBFB}"/>
              </a:ext>
            </a:extLst>
          </p:cNvPr>
          <p:cNvSpPr>
            <a:spLocks xmlns:a="http://schemas.openxmlformats.org/drawingml/2006/main" noGrp="1"/>
          </p:cNvSpPr>
          <p:nvPr/>
        </p:nvSpPr>
        <p:spPr>
          <a:xfrm xmlns:a="http://schemas.openxmlformats.org/drawingml/2006/main">
            <a:off x="10382250" y="7181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i="0">
                <a:solidFill>
                  <a:srgbClr val="62665E"/>
                </a:solidFill>
                <a:latin typeface="Helvetica Neue"/>
                <a:ea typeface="Helvetica Neue"/>
                <a:cs typeface="Helvetica Neue"/>
              </a:defRPr>
            </a:defPPr>
          </a:lstStyle>
          <a:p xmlns:a="http://schemas.openxmlformats.org/drawingml/2006/main">
            <a:pPr algn="r">
              <a:defRPr sz="1275" b="0" i="0">
                <a:solidFill>
                  <a:srgbClr val="62665E"/>
                </a:solidFill>
                <a:latin typeface="Helvetica Neue"/>
                <a:ea typeface="Helvetica Neue"/>
                <a:cs typeface="Helvetica Neue"/>
              </a:defRPr>
            </a:pPr>
            <a:r>
              <a:rPr sz="1275" b="0" i="0">
                <a:solidFill>
                  <a:srgbClr val="62665E"/>
                </a:solidFill>
                <a:latin typeface="Helvetica Neue"/>
                <a:ea typeface="Helvetica Neue"/>
                <a:cs typeface="Helvetica Neue"/>
              </a:rPr>
              <a:t>02</a:t>
            </a:r>
          </a:p>
        </p:txBody>
      </p:sp>
    </p:spTree>
    <p:extLst>
      <p:ext uri="{BB962C8B-B14F-4D97-AF65-F5344CB8AC3E}">
        <p14:creationId xmlns:p14="http://schemas.microsoft.com/office/powerpoint/2010/main" val="638044474"/>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8A540223-8CA0-4EB8-8B9D-7ED69AE3B26F}"/>
              </a:ext>
            </a:extLst>
          </p:cNvPr>
          <p:cNvPicPr>
            <a:picLocks xmlns:a="http://schemas.openxmlformats.org/drawingml/2006/main" noChangeAspect="1"/>
          </p:cNvPicPr>
          <p:nvPr/>
        </p:nvPicPr>
        <p:blipFill>
          <a:blip xmlns:r="http://schemas.openxmlformats.org/officeDocument/2006/relationships" xmlns:a="http://schemas.openxmlformats.org/drawingml/2006/main" r:embed="Rc5d54d98af814bf5"/>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1  Curious Human">
            <a:extLst xmlns:a="http://schemas.openxmlformats.org/drawingml/2006/main">
              <a:ext uri="{FF2B5EF4-FFF2-40B4-BE49-F238E27FC236}">
                <a16:creationId xmlns:a16="http://schemas.microsoft.com/office/drawing/2014/main" id="{3AE15222-F58D-4B15-BC98-58729D60085A}"/>
              </a:ext>
            </a:extLst>
          </p:cNvPr>
          <p:cNvSpPr>
            <a:spLocks xmlns:a="http://schemas.openxmlformats.org/drawingml/2006/main" noGrp="1"/>
          </p:cNvSpPr>
          <p:nvPr/>
        </p:nvSpPr>
        <p:spPr>
          <a:xfrm xmlns:a="http://schemas.openxmlformats.org/drawingml/2006/main">
            <a:off x="476250" y="7210425"/>
            <a:ext cx="671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i="0">
                <a:solidFill>
                  <a:srgbClr val="20211E"/>
                </a:solidFill>
                <a:latin typeface="Helvetica Neue"/>
                <a:ea typeface="Helvetica Neue"/>
                <a:cs typeface="Helvetica Neue"/>
              </a:defRPr>
            </a:defPPr>
          </a:lstStyle>
          <a:p xmlns:a="http://schemas.openxmlformats.org/drawingml/2006/main">
            <a:pPr>
              <a:defRPr sz="1725" b="1" i="0">
                <a:solidFill>
                  <a:srgbClr val="20211E"/>
                </a:solidFill>
                <a:latin typeface="Helvetica Neue"/>
                <a:ea typeface="Helvetica Neue"/>
                <a:cs typeface="Helvetica Neue"/>
              </a:defRPr>
            </a:pPr>
            <a:r>
              <a:rPr sz="1725" b="1" i="0">
                <a:solidFill>
                  <a:srgbClr val="20211E"/>
                </a:solidFill>
                <a:latin typeface="Helvetica Neue"/>
                <a:ea typeface="Helvetica Neue"/>
                <a:cs typeface="Helvetica Neue"/>
              </a:rPr>
              <a:t>01  Curious Human</a:t>
            </a:r>
          </a:p>
        </p:txBody>
      </p:sp>
      <p:sp>
        <p:nvSpPr>
          <p:cNvPr id="3" name="Identity concept">
            <a:extLst xmlns:a="http://schemas.openxmlformats.org/drawingml/2006/main">
              <a:ext uri="{FF2B5EF4-FFF2-40B4-BE49-F238E27FC236}">
                <a16:creationId xmlns:a16="http://schemas.microsoft.com/office/drawing/2014/main" id="{00722382-C29C-417C-A93F-BC5944F868B7}"/>
              </a:ext>
            </a:extLst>
          </p:cNvPr>
          <p:cNvSpPr>
            <a:spLocks xmlns:a="http://schemas.openxmlformats.org/drawingml/2006/main" noGrp="1"/>
          </p:cNvSpPr>
          <p:nvPr/>
        </p:nvSpPr>
        <p:spPr>
          <a:xfrm xmlns:a="http://schemas.openxmlformats.org/drawingml/2006/main">
            <a:off x="8115300" y="7258050"/>
            <a:ext cx="283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i="0">
                <a:solidFill>
                  <a:srgbClr val="62665E"/>
                </a:solidFill>
                <a:latin typeface="Helvetica Neue"/>
                <a:ea typeface="Helvetica Neue"/>
                <a:cs typeface="Helvetica Neue"/>
              </a:defRPr>
            </a:defPPr>
          </a:lstStyle>
          <a:p xmlns:a="http://schemas.openxmlformats.org/drawingml/2006/main">
            <a:pPr algn="r">
              <a:defRPr sz="1350" b="0" i="0">
                <a:solidFill>
                  <a:srgbClr val="62665E"/>
                </a:solidFill>
                <a:latin typeface="Helvetica Neue"/>
                <a:ea typeface="Helvetica Neue"/>
                <a:cs typeface="Helvetica Neue"/>
              </a:defRPr>
            </a:pPr>
            <a:r>
              <a:rPr sz="1350" b="0" i="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243275799"/>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96EC7379-ED16-4D59-B15A-E7044A2FCD51}"/>
              </a:ext>
            </a:extLst>
          </p:cNvPr>
          <p:cNvPicPr>
            <a:picLocks xmlns:a="http://schemas.openxmlformats.org/drawingml/2006/main" noChangeAspect="1"/>
          </p:cNvPicPr>
          <p:nvPr/>
        </p:nvPicPr>
        <p:blipFill>
          <a:blip xmlns:r="http://schemas.openxmlformats.org/officeDocument/2006/relationships" xmlns:a="http://schemas.openxmlformats.org/drawingml/2006/main" r:embed="R10df8f9dccf94cd1"/>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2  Renzo Radio">
            <a:extLst xmlns:a="http://schemas.openxmlformats.org/drawingml/2006/main">
              <a:ext uri="{FF2B5EF4-FFF2-40B4-BE49-F238E27FC236}">
                <a16:creationId xmlns:a16="http://schemas.microsoft.com/office/drawing/2014/main" id="{3634A519-B9BE-4D88-A5A6-52712DC125F9}"/>
              </a:ext>
            </a:extLst>
          </p:cNvPr>
          <p:cNvSpPr>
            <a:spLocks xmlns:a="http://schemas.openxmlformats.org/drawingml/2006/main" noGrp="1"/>
          </p:cNvSpPr>
          <p:nvPr/>
        </p:nvSpPr>
        <p:spPr>
          <a:xfrm xmlns:a="http://schemas.openxmlformats.org/drawingml/2006/main">
            <a:off x="476250" y="7210425"/>
            <a:ext cx="671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i="0">
                <a:solidFill>
                  <a:srgbClr val="20211E"/>
                </a:solidFill>
                <a:latin typeface="Helvetica Neue"/>
                <a:ea typeface="Helvetica Neue"/>
                <a:cs typeface="Helvetica Neue"/>
              </a:defRPr>
            </a:defPPr>
          </a:lstStyle>
          <a:p xmlns:a="http://schemas.openxmlformats.org/drawingml/2006/main">
            <a:pPr>
              <a:defRPr sz="1725" b="1" i="0">
                <a:solidFill>
                  <a:srgbClr val="20211E"/>
                </a:solidFill>
                <a:latin typeface="Helvetica Neue"/>
                <a:ea typeface="Helvetica Neue"/>
                <a:cs typeface="Helvetica Neue"/>
              </a:defRPr>
            </a:pPr>
            <a:r>
              <a:rPr sz="1725" b="1" i="0">
                <a:solidFill>
                  <a:srgbClr val="20211E"/>
                </a:solidFill>
                <a:latin typeface="Helvetica Neue"/>
                <a:ea typeface="Helvetica Neue"/>
                <a:cs typeface="Helvetica Neue"/>
              </a:rPr>
              <a:t>02  Renzo Radio</a:t>
            </a:r>
          </a:p>
        </p:txBody>
      </p:sp>
      <p:sp>
        <p:nvSpPr>
          <p:cNvPr id="3" name="Identity concept">
            <a:extLst xmlns:a="http://schemas.openxmlformats.org/drawingml/2006/main">
              <a:ext uri="{FF2B5EF4-FFF2-40B4-BE49-F238E27FC236}">
                <a16:creationId xmlns:a16="http://schemas.microsoft.com/office/drawing/2014/main" id="{94D7317D-6867-4E92-8B3E-F427E1F9E6E1}"/>
              </a:ext>
            </a:extLst>
          </p:cNvPr>
          <p:cNvSpPr>
            <a:spLocks xmlns:a="http://schemas.openxmlformats.org/drawingml/2006/main" noGrp="1"/>
          </p:cNvSpPr>
          <p:nvPr/>
        </p:nvSpPr>
        <p:spPr>
          <a:xfrm xmlns:a="http://schemas.openxmlformats.org/drawingml/2006/main">
            <a:off x="8115300" y="7258050"/>
            <a:ext cx="283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i="0">
                <a:solidFill>
                  <a:srgbClr val="62665E"/>
                </a:solidFill>
                <a:latin typeface="Helvetica Neue"/>
                <a:ea typeface="Helvetica Neue"/>
                <a:cs typeface="Helvetica Neue"/>
              </a:defRPr>
            </a:defPPr>
          </a:lstStyle>
          <a:p xmlns:a="http://schemas.openxmlformats.org/drawingml/2006/main">
            <a:pPr algn="r">
              <a:defRPr sz="1350" b="0" i="0">
                <a:solidFill>
                  <a:srgbClr val="62665E"/>
                </a:solidFill>
                <a:latin typeface="Helvetica Neue"/>
                <a:ea typeface="Helvetica Neue"/>
                <a:cs typeface="Helvetica Neue"/>
              </a:defRPr>
            </a:pPr>
            <a:r>
              <a:rPr sz="1350" b="0" i="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1542736102"/>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3DE66098-D655-4369-9FE1-BB08BFCDC3E3}"/>
              </a:ext>
            </a:extLst>
          </p:cNvPr>
          <p:cNvPicPr>
            <a:picLocks xmlns:a="http://schemas.openxmlformats.org/drawingml/2006/main" noChangeAspect="1"/>
          </p:cNvPicPr>
          <p:nvPr/>
        </p:nvPicPr>
        <p:blipFill>
          <a:blip xmlns:r="http://schemas.openxmlformats.org/officeDocument/2006/relationships" xmlns:a="http://schemas.openxmlformats.org/drawingml/2006/main" r:embed="Re6e96e1d1dea42ee"/>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3  Build Club">
            <a:extLst xmlns:a="http://schemas.openxmlformats.org/drawingml/2006/main">
              <a:ext uri="{FF2B5EF4-FFF2-40B4-BE49-F238E27FC236}">
                <a16:creationId xmlns:a16="http://schemas.microsoft.com/office/drawing/2014/main" id="{00F8C925-4542-49D0-8DAA-1E7611D32497}"/>
              </a:ext>
            </a:extLst>
          </p:cNvPr>
          <p:cNvSpPr>
            <a:spLocks xmlns:a="http://schemas.openxmlformats.org/drawingml/2006/main" noGrp="1"/>
          </p:cNvSpPr>
          <p:nvPr/>
        </p:nvSpPr>
        <p:spPr>
          <a:xfrm xmlns:a="http://schemas.openxmlformats.org/drawingml/2006/main">
            <a:off x="476250" y="7210425"/>
            <a:ext cx="671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i="0">
                <a:solidFill>
                  <a:srgbClr val="20211E"/>
                </a:solidFill>
                <a:latin typeface="Helvetica Neue"/>
                <a:ea typeface="Helvetica Neue"/>
                <a:cs typeface="Helvetica Neue"/>
              </a:defRPr>
            </a:defPPr>
          </a:lstStyle>
          <a:p xmlns:a="http://schemas.openxmlformats.org/drawingml/2006/main">
            <a:pPr>
              <a:defRPr sz="1725" b="1" i="0">
                <a:solidFill>
                  <a:srgbClr val="20211E"/>
                </a:solidFill>
                <a:latin typeface="Helvetica Neue"/>
                <a:ea typeface="Helvetica Neue"/>
                <a:cs typeface="Helvetica Neue"/>
              </a:defRPr>
            </a:pPr>
            <a:r>
              <a:rPr sz="1725" b="1" i="0">
                <a:solidFill>
                  <a:srgbClr val="20211E"/>
                </a:solidFill>
                <a:latin typeface="Helvetica Neue"/>
                <a:ea typeface="Helvetica Neue"/>
                <a:cs typeface="Helvetica Neue"/>
              </a:rPr>
              <a:t>03  Build Club</a:t>
            </a:r>
          </a:p>
        </p:txBody>
      </p:sp>
      <p:sp>
        <p:nvSpPr>
          <p:cNvPr id="3" name="Identity concept">
            <a:extLst xmlns:a="http://schemas.openxmlformats.org/drawingml/2006/main">
              <a:ext uri="{FF2B5EF4-FFF2-40B4-BE49-F238E27FC236}">
                <a16:creationId xmlns:a16="http://schemas.microsoft.com/office/drawing/2014/main" id="{9E9B6261-E9AB-4F34-9247-D180F4B0A8CD}"/>
              </a:ext>
            </a:extLst>
          </p:cNvPr>
          <p:cNvSpPr>
            <a:spLocks xmlns:a="http://schemas.openxmlformats.org/drawingml/2006/main" noGrp="1"/>
          </p:cNvSpPr>
          <p:nvPr/>
        </p:nvSpPr>
        <p:spPr>
          <a:xfrm xmlns:a="http://schemas.openxmlformats.org/drawingml/2006/main">
            <a:off x="8115300" y="7258050"/>
            <a:ext cx="283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i="0">
                <a:solidFill>
                  <a:srgbClr val="62665E"/>
                </a:solidFill>
                <a:latin typeface="Helvetica Neue"/>
                <a:ea typeface="Helvetica Neue"/>
                <a:cs typeface="Helvetica Neue"/>
              </a:defRPr>
            </a:defPPr>
          </a:lstStyle>
          <a:p xmlns:a="http://schemas.openxmlformats.org/drawingml/2006/main">
            <a:pPr algn="r">
              <a:defRPr sz="1350" b="0" i="0">
                <a:solidFill>
                  <a:srgbClr val="62665E"/>
                </a:solidFill>
                <a:latin typeface="Helvetica Neue"/>
                <a:ea typeface="Helvetica Neue"/>
                <a:cs typeface="Helvetica Neue"/>
              </a:defRPr>
            </a:pPr>
            <a:r>
              <a:rPr sz="1350" b="0" i="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981511903"/>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C9F869A9-BEC0-4FB7-8C40-C5C66373B001}"/>
              </a:ext>
            </a:extLst>
          </p:cNvPr>
          <p:cNvPicPr>
            <a:picLocks xmlns:a="http://schemas.openxmlformats.org/drawingml/2006/main" noChangeAspect="1"/>
          </p:cNvPicPr>
          <p:nvPr/>
        </p:nvPicPr>
        <p:blipFill>
          <a:blip xmlns:r="http://schemas.openxmlformats.org/officeDocument/2006/relationships" xmlns:a="http://schemas.openxmlformats.org/drawingml/2006/main" r:embed="R4403f91f091e4ee2"/>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4  Open Tabs">
            <a:extLst xmlns:a="http://schemas.openxmlformats.org/drawingml/2006/main">
              <a:ext uri="{FF2B5EF4-FFF2-40B4-BE49-F238E27FC236}">
                <a16:creationId xmlns:a16="http://schemas.microsoft.com/office/drawing/2014/main" id="{D10CD3D9-0506-4AE3-A50B-0C0121C576F1}"/>
              </a:ext>
            </a:extLst>
          </p:cNvPr>
          <p:cNvSpPr>
            <a:spLocks xmlns:a="http://schemas.openxmlformats.org/drawingml/2006/main" noGrp="1"/>
          </p:cNvSpPr>
          <p:nvPr/>
        </p:nvSpPr>
        <p:spPr>
          <a:xfrm xmlns:a="http://schemas.openxmlformats.org/drawingml/2006/main">
            <a:off x="476250" y="7210425"/>
            <a:ext cx="671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i="0">
                <a:solidFill>
                  <a:srgbClr val="20211E"/>
                </a:solidFill>
                <a:latin typeface="Helvetica Neue"/>
                <a:ea typeface="Helvetica Neue"/>
                <a:cs typeface="Helvetica Neue"/>
              </a:defRPr>
            </a:defPPr>
          </a:lstStyle>
          <a:p xmlns:a="http://schemas.openxmlformats.org/drawingml/2006/main">
            <a:pPr>
              <a:defRPr sz="1725" b="1" i="0">
                <a:solidFill>
                  <a:srgbClr val="20211E"/>
                </a:solidFill>
                <a:latin typeface="Helvetica Neue"/>
                <a:ea typeface="Helvetica Neue"/>
                <a:cs typeface="Helvetica Neue"/>
              </a:defRPr>
            </a:pPr>
            <a:r>
              <a:rPr sz="1725" b="1" i="0">
                <a:solidFill>
                  <a:srgbClr val="20211E"/>
                </a:solidFill>
                <a:latin typeface="Helvetica Neue"/>
                <a:ea typeface="Helvetica Neue"/>
                <a:cs typeface="Helvetica Neue"/>
              </a:rPr>
              <a:t>04  Open Tabs</a:t>
            </a:r>
          </a:p>
        </p:txBody>
      </p:sp>
      <p:sp>
        <p:nvSpPr>
          <p:cNvPr id="3" name="Identity concept">
            <a:extLst xmlns:a="http://schemas.openxmlformats.org/drawingml/2006/main">
              <a:ext uri="{FF2B5EF4-FFF2-40B4-BE49-F238E27FC236}">
                <a16:creationId xmlns:a16="http://schemas.microsoft.com/office/drawing/2014/main" id="{9AA0B357-79A7-4765-B5C0-A23781AF6FA6}"/>
              </a:ext>
            </a:extLst>
          </p:cNvPr>
          <p:cNvSpPr>
            <a:spLocks xmlns:a="http://schemas.openxmlformats.org/drawingml/2006/main" noGrp="1"/>
          </p:cNvSpPr>
          <p:nvPr/>
        </p:nvSpPr>
        <p:spPr>
          <a:xfrm xmlns:a="http://schemas.openxmlformats.org/drawingml/2006/main">
            <a:off x="8115300" y="7258050"/>
            <a:ext cx="283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i="0">
                <a:solidFill>
                  <a:srgbClr val="62665E"/>
                </a:solidFill>
                <a:latin typeface="Helvetica Neue"/>
                <a:ea typeface="Helvetica Neue"/>
                <a:cs typeface="Helvetica Neue"/>
              </a:defRPr>
            </a:defPPr>
          </a:lstStyle>
          <a:p xmlns:a="http://schemas.openxmlformats.org/drawingml/2006/main">
            <a:pPr algn="r">
              <a:defRPr sz="1350" b="0" i="0">
                <a:solidFill>
                  <a:srgbClr val="62665E"/>
                </a:solidFill>
                <a:latin typeface="Helvetica Neue"/>
                <a:ea typeface="Helvetica Neue"/>
                <a:cs typeface="Helvetica Neue"/>
              </a:defRPr>
            </a:pPr>
            <a:r>
              <a:rPr sz="1350" b="0" i="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1995725102"/>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8C6BBC1E-390D-4011-B8A4-37D71B4A1A03}"/>
              </a:ext>
            </a:extLst>
          </p:cNvPr>
          <p:cNvPicPr>
            <a:picLocks xmlns:a="http://schemas.openxmlformats.org/drawingml/2006/main" noChangeAspect="1"/>
          </p:cNvPicPr>
          <p:nvPr/>
        </p:nvPicPr>
        <p:blipFill>
          <a:blip xmlns:r="http://schemas.openxmlformats.org/officeDocument/2006/relationships" xmlns:a="http://schemas.openxmlformats.org/drawingml/2006/main" r:embed="R3e0d00b35d5e49c3"/>
          <a:stretch xmlns:a="http://schemas.openxmlformats.org/drawingml/2006/main"/>
        </p:blipFill>
        <p:spPr>
          <a:xfrm xmlns:a="http://schemas.openxmlformats.org/drawingml/2006/main">
            <a:off x="457200" y="114300"/>
            <a:ext cx="10515600" cy="7010400"/>
          </a:xfrm>
          <a:prstGeom xmlns:a="http://schemas.openxmlformats.org/drawingml/2006/main" prst="rect">
            <a:avLst/>
          </a:prstGeom>
        </p:spPr>
      </p:pic>
      <p:sp>
        <p:nvSpPr>
          <p:cNvPr id="2" name="05  Mark in Motion">
            <a:extLst xmlns:a="http://schemas.openxmlformats.org/drawingml/2006/main">
              <a:ext uri="{FF2B5EF4-FFF2-40B4-BE49-F238E27FC236}">
                <a16:creationId xmlns:a16="http://schemas.microsoft.com/office/drawing/2014/main" id="{BDB03DDD-93D8-48B1-A998-1991566E080F}"/>
              </a:ext>
            </a:extLst>
          </p:cNvPr>
          <p:cNvSpPr>
            <a:spLocks xmlns:a="http://schemas.openxmlformats.org/drawingml/2006/main" noGrp="1"/>
          </p:cNvSpPr>
          <p:nvPr/>
        </p:nvSpPr>
        <p:spPr>
          <a:xfrm xmlns:a="http://schemas.openxmlformats.org/drawingml/2006/main">
            <a:off x="476250" y="7210425"/>
            <a:ext cx="671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1" i="0">
                <a:solidFill>
                  <a:srgbClr val="20211E"/>
                </a:solidFill>
                <a:latin typeface="Helvetica Neue"/>
                <a:ea typeface="Helvetica Neue"/>
                <a:cs typeface="Helvetica Neue"/>
              </a:defRPr>
            </a:defPPr>
          </a:lstStyle>
          <a:p xmlns:a="http://schemas.openxmlformats.org/drawingml/2006/main">
            <a:pPr>
              <a:defRPr sz="1725" b="1" i="0">
                <a:solidFill>
                  <a:srgbClr val="20211E"/>
                </a:solidFill>
                <a:latin typeface="Helvetica Neue"/>
                <a:ea typeface="Helvetica Neue"/>
                <a:cs typeface="Helvetica Neue"/>
              </a:defRPr>
            </a:pPr>
            <a:r>
              <a:rPr sz="1725" b="1" i="0">
                <a:solidFill>
                  <a:srgbClr val="20211E"/>
                </a:solidFill>
                <a:latin typeface="Helvetica Neue"/>
                <a:ea typeface="Helvetica Neue"/>
                <a:cs typeface="Helvetica Neue"/>
              </a:rPr>
              <a:t>05  Mark in Motion</a:t>
            </a:r>
          </a:p>
        </p:txBody>
      </p:sp>
      <p:sp>
        <p:nvSpPr>
          <p:cNvPr id="3" name="Identity concept">
            <a:extLst xmlns:a="http://schemas.openxmlformats.org/drawingml/2006/main">
              <a:ext uri="{FF2B5EF4-FFF2-40B4-BE49-F238E27FC236}">
                <a16:creationId xmlns:a16="http://schemas.microsoft.com/office/drawing/2014/main" id="{D91303E6-497B-4AA9-BC69-33E247FCA161}"/>
              </a:ext>
            </a:extLst>
          </p:cNvPr>
          <p:cNvSpPr>
            <a:spLocks xmlns:a="http://schemas.openxmlformats.org/drawingml/2006/main" noGrp="1"/>
          </p:cNvSpPr>
          <p:nvPr/>
        </p:nvSpPr>
        <p:spPr>
          <a:xfrm xmlns:a="http://schemas.openxmlformats.org/drawingml/2006/main">
            <a:off x="8115300" y="7258050"/>
            <a:ext cx="2838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0" i="0">
                <a:solidFill>
                  <a:srgbClr val="62665E"/>
                </a:solidFill>
                <a:latin typeface="Helvetica Neue"/>
                <a:ea typeface="Helvetica Neue"/>
                <a:cs typeface="Helvetica Neue"/>
              </a:defRPr>
            </a:defPPr>
          </a:lstStyle>
          <a:p xmlns:a="http://schemas.openxmlformats.org/drawingml/2006/main">
            <a:pPr algn="r">
              <a:defRPr sz="1350" b="0" i="0">
                <a:solidFill>
                  <a:srgbClr val="62665E"/>
                </a:solidFill>
                <a:latin typeface="Helvetica Neue"/>
                <a:ea typeface="Helvetica Neue"/>
                <a:cs typeface="Helvetica Neue"/>
              </a:defRPr>
            </a:pPr>
            <a:r>
              <a:rPr sz="1350" b="0" i="0">
                <a:solidFill>
                  <a:srgbClr val="62665E"/>
                </a:solidFill>
                <a:latin typeface="Helvetica Neue"/>
                <a:ea typeface="Helvetica Neue"/>
                <a:cs typeface="Helvetica Neue"/>
              </a:rPr>
              <a:t>Identity concept</a:t>
            </a:r>
          </a:p>
        </p:txBody>
      </p:sp>
    </p:spTree>
    <p:extLst>
      <p:ext uri="{BB962C8B-B14F-4D97-AF65-F5344CB8AC3E}">
        <p14:creationId xmlns:p14="http://schemas.microsoft.com/office/powerpoint/2010/main" val="1120416796"/>
      </p:ext>
    </p:extLst>
  </p:cSld>
</p:sld>
</file>

<file path=ppt/slides/slide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Five visual systems">
            <a:extLst xmlns:a="http://schemas.openxmlformats.org/drawingml/2006/main">
              <a:ext uri="{FF2B5EF4-FFF2-40B4-BE49-F238E27FC236}">
                <a16:creationId xmlns:a16="http://schemas.microsoft.com/office/drawing/2014/main" id="{6E3225F1-C12C-4958-98CB-8DA80DB0E68A}"/>
              </a:ext>
            </a:extLst>
          </p:cNvPr>
          <p:cNvSpPr>
            <a:spLocks xmlns:a="http://schemas.openxmlformats.org/drawingml/2006/main" noGrp="1"/>
          </p:cNvSpPr>
          <p:nvPr/>
        </p:nvSpPr>
        <p:spPr>
          <a:xfrm xmlns:a="http://schemas.openxmlformats.org/drawingml/2006/main">
            <a:off x="609600" y="590550"/>
            <a:ext cx="1021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350" b="1" i="0">
                <a:solidFill>
                  <a:srgbClr val="20211E"/>
                </a:solidFill>
                <a:latin typeface="Helvetica Neue"/>
                <a:ea typeface="Helvetica Neue"/>
                <a:cs typeface="Helvetica Neue"/>
              </a:defRPr>
            </a:defPPr>
          </a:lstStyle>
          <a:p xmlns:a="http://schemas.openxmlformats.org/drawingml/2006/main">
            <a:pPr>
              <a:defRPr sz="4350" b="1" i="0">
                <a:solidFill>
                  <a:srgbClr val="20211E"/>
                </a:solidFill>
                <a:latin typeface="Helvetica Neue"/>
                <a:ea typeface="Helvetica Neue"/>
                <a:cs typeface="Helvetica Neue"/>
              </a:defRPr>
            </a:pPr>
            <a:r>
              <a:rPr sz="4350" b="1" i="0">
                <a:solidFill>
                  <a:srgbClr val="20211E"/>
                </a:solidFill>
                <a:latin typeface="Helvetica Neue"/>
                <a:ea typeface="Helvetica Neue"/>
                <a:cs typeface="Helvetica Neue"/>
              </a:rPr>
              <a:t>Five visual systems</a:t>
            </a:r>
          </a:p>
        </p:txBody>
      </p:sp>
      <p:sp>
        <p:nvSpPr>
          <p:cNvPr id="2" name="Color specifications and proposed t">
            <a:extLst xmlns:a="http://schemas.openxmlformats.org/drawingml/2006/main">
              <a:ext uri="{FF2B5EF4-FFF2-40B4-BE49-F238E27FC236}">
                <a16:creationId xmlns:a16="http://schemas.microsoft.com/office/drawing/2014/main" id="{1825B7A5-8454-4489-8093-A1DE18D0C0B5}"/>
              </a:ext>
            </a:extLst>
          </p:cNvPr>
          <p:cNvSpPr>
            <a:spLocks xmlns:a="http://schemas.openxmlformats.org/drawingml/2006/main" noGrp="1"/>
          </p:cNvSpPr>
          <p:nvPr/>
        </p:nvSpPr>
        <p:spPr>
          <a:xfrm xmlns:a="http://schemas.openxmlformats.org/drawingml/2006/main">
            <a:off x="609600" y="1419225"/>
            <a:ext cx="10210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i="0">
                <a:solidFill>
                  <a:srgbClr val="62665E"/>
                </a:solidFill>
                <a:latin typeface="Helvetica Neue"/>
                <a:ea typeface="Helvetica Neue"/>
                <a:cs typeface="Helvetica Neue"/>
              </a:defRPr>
            </a:defPPr>
          </a:lstStyle>
          <a:p xmlns:a="http://schemas.openxmlformats.org/drawingml/2006/main">
            <a:pPr>
              <a:defRPr sz="1875" b="0" i="0">
                <a:solidFill>
                  <a:srgbClr val="62665E"/>
                </a:solidFill>
                <a:latin typeface="Helvetica Neue"/>
                <a:ea typeface="Helvetica Neue"/>
                <a:cs typeface="Helvetica Neue"/>
              </a:defRPr>
            </a:pPr>
            <a:r>
              <a:rPr sz="1875" b="0" i="0">
                <a:solidFill>
                  <a:srgbClr val="62665E"/>
                </a:solidFill>
                <a:latin typeface="Helvetica Neue"/>
                <a:ea typeface="Helvetica Neue"/>
                <a:cs typeface="Helvetica Neue"/>
              </a:rPr>
              <a:t>Color specifications and proposed type pairings</a:t>
            </a:r>
          </a:p>
        </p:txBody>
      </p:sp>
      <p:graphicFrame>
        <p:nvGraphicFramePr>
          <p:cNvPr id="3" name="">
            <a:extLst xmlns:a="http://schemas.openxmlformats.org/drawingml/2006/main">
              <a:ext uri="{FF2B5EF4-FFF2-40B4-BE49-F238E27FC236}">
                <a16:creationId xmlns:a16="http://schemas.microsoft.com/office/drawing/2014/main" id="{A23DE359-A7A7-4878-B849-13760E1FBB29}"/>
              </a:ext>
            </a:extLst>
          </p:cNvPr>
          <p:cNvGraphicFramePr/>
          <p:nvPr/>
        </p:nvGraphicFramePr>
        <p:xfrm>
          <a:off xmlns:a="http://schemas.openxmlformats.org/drawingml/2006/main" x="609600" y="2152650"/>
          <a:ext xmlns:a="http://schemas.openxmlformats.org/drawingml/2006/main" cx="10210800" cy="3924300"/>
        </p:xfrm>
        <a:graphic xmlns:a="http://schemas.openxmlformats.org/drawingml/2006/main">
          <a:graphicData uri="http://schemas.openxmlformats.org/drawingml/2006/table">
            <a:tbl>
              <a:tblPr firstRow="0" bandRow="0"/>
              <a:tblGrid>
                <a:gridCol w="2238375"/>
                <a:gridCol w="1190625"/>
                <a:gridCol w="1190625"/>
                <a:gridCol w="1190625"/>
                <a:gridCol w="1190625"/>
                <a:gridCol w="3019425"/>
              </a:tblGrid>
              <a:tr h="523875">
                <a:tc>
                  <a:txBody>
                    <a:bodyPr/>
                    <a:lstStyle/>
                    <a:p>
                      <a:r>
                        <a:rPr sz="1575" b="1">
                          <a:solidFill>
                            <a:srgbClr val="2453FF"/>
                          </a:solidFill>
                          <a:latin typeface="Helvetica Neue"/>
                          <a:ea typeface="Helvetica Neue"/>
                          <a:cs typeface="Helvetica Neue"/>
                        </a:rPr>
                        <a:t>DIRECTION</a:t>
                      </a:r>
                    </a:p>
                  </a:txBody>
                  <a:tcPr marL="114300" marR="114300" marT="95250" marB="95250" anchor="ctr">
                    <a:solidFill>
                      <a:srgbClr val="F6F5EF"/>
                    </a:solidFill>
                  </a:tcPr>
                </a:tc>
                <a:tc gridSpan="4">
                  <a:txBody>
                    <a:bodyPr/>
                    <a:lstStyle/>
                    <a:p>
                      <a:r>
                        <a:rPr sz="1575" b="1">
                          <a:solidFill>
                            <a:srgbClr val="2453FF"/>
                          </a:solidFill>
                          <a:latin typeface="Helvetica Neue"/>
                          <a:ea typeface="Helvetica Neue"/>
                          <a:cs typeface="Helvetica Neue"/>
                        </a:rPr>
                        <a:t>PALETTE (HEX)</a:t>
                      </a:r>
                    </a:p>
                  </a:txBody>
                  <a:tcPr marL="114300" marR="114300" marT="95250" marB="95250" anchor="ctr">
                    <a:solidFill>
                      <a:srgbClr val="F6F5EF"/>
                    </a:solidFill>
                  </a:tcPr>
                </a:tc>
                <a:tc hMerge="1">
                  <a:txBody>
                    <a:bodyPr/>
                    <a:lstStyle/>
                    <a:p>
                      <a:r>
                        <a:rPr sz="1575" b="1">
                          <a:solidFill>
                            <a:srgbClr val="2453FF"/>
                          </a:solidFill>
                          <a:latin typeface="Helvetica Neue"/>
                          <a:ea typeface="Helvetica Neue"/>
                          <a:cs typeface="Helvetica Neue"/>
                        </a:rPr>
                        <a:t/>
                      </a:r>
                    </a:p>
                  </a:txBody>
                  <a:tcPr marL="114300" marR="114300" marT="95250" marB="95250" anchor="ctr">
                    <a:solidFill>
                      <a:srgbClr val="F6F5EF"/>
                    </a:solidFill>
                  </a:tcPr>
                </a:tc>
                <a:tc hMerge="1">
                  <a:txBody>
                    <a:bodyPr/>
                    <a:lstStyle/>
                    <a:p>
                      <a:r>
                        <a:rPr sz="1575" b="1">
                          <a:solidFill>
                            <a:srgbClr val="2453FF"/>
                          </a:solidFill>
                          <a:latin typeface="Helvetica Neue"/>
                          <a:ea typeface="Helvetica Neue"/>
                          <a:cs typeface="Helvetica Neue"/>
                        </a:rPr>
                        <a:t/>
                      </a:r>
                    </a:p>
                  </a:txBody>
                  <a:tcPr marL="114300" marR="114300" marT="95250" marB="95250" anchor="ctr">
                    <a:solidFill>
                      <a:srgbClr val="F6F5EF"/>
                    </a:solidFill>
                  </a:tcPr>
                </a:tc>
                <a:tc hMerge="1">
                  <a:txBody>
                    <a:bodyPr/>
                    <a:lstStyle/>
                    <a:p>
                      <a:r>
                        <a:rPr sz="1575" b="1">
                          <a:solidFill>
                            <a:srgbClr val="2453FF"/>
                          </a:solidFill>
                          <a:latin typeface="Helvetica Neue"/>
                          <a:ea typeface="Helvetica Neue"/>
                          <a:cs typeface="Helvetica Neue"/>
                        </a:rPr>
                        <a:t/>
                      </a:r>
                    </a:p>
                  </a:txBody>
                  <a:tcPr marL="114300" marR="114300" marT="95250" marB="95250" anchor="ctr">
                    <a:solidFill>
                      <a:srgbClr val="F6F5EF"/>
                    </a:solidFill>
                  </a:tcPr>
                </a:tc>
                <a:tc>
                  <a:txBody>
                    <a:bodyPr/>
                    <a:lstStyle/>
                    <a:p>
                      <a:r>
                        <a:rPr sz="1575" b="1">
                          <a:solidFill>
                            <a:srgbClr val="2453FF"/>
                          </a:solidFill>
                          <a:latin typeface="Helvetica Neue"/>
                          <a:ea typeface="Helvetica Neue"/>
                          <a:cs typeface="Helvetica Neue"/>
                        </a:rPr>
                        <a:t>TYPE PROPOSAL</a:t>
                      </a:r>
                    </a:p>
                  </a:txBody>
                  <a:tcPr marL="114300" marR="114300" marT="95250" marB="95250" anchor="ctr">
                    <a:solidFill>
                      <a:srgbClr val="F6F5EF"/>
                    </a:solidFill>
                  </a:tcPr>
                </a:tc>
              </a:tr>
              <a:tr h="680085">
                <a:tc>
                  <a:txBody>
                    <a:bodyPr/>
                    <a:lstStyle/>
                    <a:p>
                      <a:r>
                        <a:rPr sz="1725" b="1">
                          <a:solidFill>
                            <a:srgbClr val="20211E"/>
                          </a:solidFill>
                          <a:latin typeface="Helvetica Neue"/>
                          <a:ea typeface="Helvetica Neue"/>
                          <a:cs typeface="Helvetica Neue"/>
                        </a:rPr>
                        <a:t>01 Curious Human</a:t>
                      </a:r>
                    </a:p>
                  </a:txBody>
                  <a:tcPr marL="114300" marR="114300" marT="95250" marB="95250" anchor="ctr">
                    <a:solidFill>
                      <a:srgbClr val="F6F5EF"/>
                    </a:solidFill>
                  </a:tcPr>
                </a:tc>
                <a:tc>
                  <a:txBody>
                    <a:bodyPr wrap="none"/>
                    <a:lstStyle/>
                    <a:p>
                      <a:pPr algn="ctr"/>
                      <a:r>
                        <a:rPr sz="1650" b="1">
                          <a:solidFill>
                            <a:srgbClr val="FFFFFF"/>
                          </a:solidFill>
                          <a:latin typeface="Helvetica Neue"/>
                          <a:ea typeface="Helvetica Neue"/>
                          <a:cs typeface="Helvetica Neue"/>
                        </a:rPr>
                        <a:t>2453FF</a:t>
                      </a:r>
                    </a:p>
                  </a:txBody>
                  <a:tcPr marL="114300" marR="114300" marT="95250" marB="95250" anchor="ctr">
                    <a:solidFill>
                      <a:srgbClr val="2453FF"/>
                    </a:solidFill>
                  </a:tcPr>
                </a:tc>
                <a:tc>
                  <a:txBody>
                    <a:bodyPr wrap="none"/>
                    <a:lstStyle/>
                    <a:p>
                      <a:pPr algn="ctr"/>
                      <a:r>
                        <a:rPr sz="1650" b="1">
                          <a:solidFill>
                            <a:srgbClr val="171816"/>
                          </a:solidFill>
                          <a:latin typeface="Helvetica Neue"/>
                          <a:ea typeface="Helvetica Neue"/>
                          <a:cs typeface="Helvetica Neue"/>
                        </a:rPr>
                        <a:t>F6F5EF</a:t>
                      </a:r>
                    </a:p>
                  </a:txBody>
                  <a:tcPr marL="114300" marR="114300" marT="95250" marB="95250" anchor="ctr">
                    <a:solidFill>
                      <a:srgbClr val="F6F5EF"/>
                    </a:solidFill>
                  </a:tcPr>
                </a:tc>
                <a:tc>
                  <a:txBody>
                    <a:bodyPr wrap="none"/>
                    <a:lstStyle/>
                    <a:p>
                      <a:pPr algn="ctr"/>
                      <a:r>
                        <a:rPr sz="1650" b="1">
                          <a:solidFill>
                            <a:srgbClr val="FFFFFF"/>
                          </a:solidFill>
                          <a:latin typeface="Helvetica Neue"/>
                          <a:ea typeface="Helvetica Neue"/>
                          <a:cs typeface="Helvetica Neue"/>
                        </a:rPr>
                        <a:t>20211E</a:t>
                      </a:r>
                    </a:p>
                  </a:txBody>
                  <a:tcPr marL="114300" marR="114300" marT="95250" marB="95250" anchor="ctr">
                    <a:solidFill>
                      <a:srgbClr val="20211E"/>
                    </a:solidFill>
                  </a:tcPr>
                </a:tc>
                <a:tc>
                  <a:txBody>
                    <a:bodyPr wrap="none"/>
                    <a:lstStyle/>
                    <a:p>
                      <a:pPr algn="ctr"/>
                      <a:r>
                        <a:rPr sz="1650" b="1">
                          <a:solidFill>
                            <a:srgbClr val="171816"/>
                          </a:solidFill>
                          <a:latin typeface="Helvetica Neue"/>
                          <a:ea typeface="Helvetica Neue"/>
                          <a:cs typeface="Helvetica Neue"/>
                        </a:rPr>
                        <a:t>DDEF8B</a:t>
                      </a:r>
                    </a:p>
                  </a:txBody>
                  <a:tcPr marL="114300" marR="114300" marT="95250" marB="95250" anchor="ctr">
                    <a:solidFill>
                      <a:srgbClr val="DDEF8B"/>
                    </a:solidFill>
                  </a:tcPr>
                </a:tc>
                <a:tc>
                  <a:txBody>
                    <a:bodyPr/>
                    <a:lstStyle/>
                    <a:p>
                      <a:r>
                        <a:rPr sz="1800">
                          <a:solidFill>
                            <a:srgbClr val="20211E"/>
                          </a:solidFill>
                          <a:latin typeface="Helvetica Neue"/>
                          <a:ea typeface="Helvetica Neue"/>
                          <a:cs typeface="Helvetica Neue"/>
                        </a:rPr>
                        <a:t>General Sans</a:t>
                      </a:r>
                    </a:p>
                    <a:p>
                      <a:r>
                        <a:rPr sz="1800">
                          <a:solidFill>
                            <a:srgbClr val="20211E"/>
                          </a:solidFill>
                          <a:latin typeface="Helvetica Neue"/>
                          <a:ea typeface="Helvetica Neue"/>
                          <a:cs typeface="Helvetica Neue"/>
                        </a:rPr>
                        <a:t>DM Serif Display</a:t>
                      </a:r>
                    </a:p>
                  </a:txBody>
                  <a:tcPr marL="114300" marR="114300" marT="95250" marB="95250" anchor="ctr">
                    <a:solidFill>
                      <a:srgbClr val="F6F5EF"/>
                    </a:solidFill>
                  </a:tcPr>
                </a:tc>
              </a:tr>
              <a:tr h="680085">
                <a:tc>
                  <a:txBody>
                    <a:bodyPr/>
                    <a:lstStyle/>
                    <a:p>
                      <a:r>
                        <a:rPr sz="1725" b="1">
                          <a:solidFill>
                            <a:srgbClr val="20211E"/>
                          </a:solidFill>
                          <a:latin typeface="Helvetica Neue"/>
                          <a:ea typeface="Helvetica Neue"/>
                          <a:cs typeface="Helvetica Neue"/>
                        </a:rPr>
                        <a:t>02 Renzo Radio</a:t>
                      </a:r>
                    </a:p>
                  </a:txBody>
                  <a:tcPr marL="114300" marR="114300" marT="95250" marB="95250" anchor="ctr">
                    <a:solidFill>
                      <a:srgbClr val="F6F5EF"/>
                    </a:solidFill>
                  </a:tcPr>
                </a:tc>
                <a:tc>
                  <a:txBody>
                    <a:bodyPr wrap="none"/>
                    <a:lstStyle/>
                    <a:p>
                      <a:pPr algn="ctr"/>
                      <a:r>
                        <a:rPr sz="1650" b="1">
                          <a:solidFill>
                            <a:srgbClr val="171816"/>
                          </a:solidFill>
                          <a:latin typeface="Helvetica Neue"/>
                          <a:ea typeface="Helvetica Neue"/>
                          <a:cs typeface="Helvetica Neue"/>
                        </a:rPr>
                        <a:t>ED4C32</a:t>
                      </a:r>
                    </a:p>
                  </a:txBody>
                  <a:tcPr marL="114300" marR="114300" marT="95250" marB="95250" anchor="ctr">
                    <a:solidFill>
                      <a:srgbClr val="ED4C32"/>
                    </a:solidFill>
                  </a:tcPr>
                </a:tc>
                <a:tc>
                  <a:txBody>
                    <a:bodyPr wrap="none"/>
                    <a:lstStyle/>
                    <a:p>
                      <a:pPr algn="ctr"/>
                      <a:r>
                        <a:rPr sz="1650" b="1">
                          <a:solidFill>
                            <a:srgbClr val="171816"/>
                          </a:solidFill>
                          <a:latin typeface="Helvetica Neue"/>
                          <a:ea typeface="Helvetica Neue"/>
                          <a:cs typeface="Helvetica Neue"/>
                        </a:rPr>
                        <a:t>FFF2DF</a:t>
                      </a:r>
                    </a:p>
                  </a:txBody>
                  <a:tcPr marL="114300" marR="114300" marT="95250" marB="95250" anchor="ctr">
                    <a:solidFill>
                      <a:srgbClr val="FFF2DF"/>
                    </a:solidFill>
                  </a:tcPr>
                </a:tc>
                <a:tc>
                  <a:txBody>
                    <a:bodyPr wrap="none"/>
                    <a:lstStyle/>
                    <a:p>
                      <a:pPr algn="ctr"/>
                      <a:r>
                        <a:rPr sz="1650" b="1">
                          <a:solidFill>
                            <a:srgbClr val="FFFFFF"/>
                          </a:solidFill>
                          <a:latin typeface="Helvetica Neue"/>
                          <a:ea typeface="Helvetica Neue"/>
                          <a:cs typeface="Helvetica Neue"/>
                        </a:rPr>
                        <a:t>34251E</a:t>
                      </a:r>
                    </a:p>
                  </a:txBody>
                  <a:tcPr marL="114300" marR="114300" marT="95250" marB="95250" anchor="ctr">
                    <a:solidFill>
                      <a:srgbClr val="34251E"/>
                    </a:solidFill>
                  </a:tcPr>
                </a:tc>
                <a:tc>
                  <a:txBody>
                    <a:bodyPr wrap="none"/>
                    <a:lstStyle/>
                    <a:p>
                      <a:pPr algn="ctr"/>
                      <a:r>
                        <a:rPr sz="1650" b="1">
                          <a:solidFill>
                            <a:srgbClr val="171816"/>
                          </a:solidFill>
                          <a:latin typeface="Helvetica Neue"/>
                          <a:ea typeface="Helvetica Neue"/>
                          <a:cs typeface="Helvetica Neue"/>
                        </a:rPr>
                        <a:t>AFC8F2</a:t>
                      </a:r>
                    </a:p>
                  </a:txBody>
                  <a:tcPr marL="114300" marR="114300" marT="95250" marB="95250" anchor="ctr">
                    <a:solidFill>
                      <a:srgbClr val="AFC8F2"/>
                    </a:solidFill>
                  </a:tcPr>
                </a:tc>
                <a:tc>
                  <a:txBody>
                    <a:bodyPr/>
                    <a:lstStyle/>
                    <a:p>
                      <a:r>
                        <a:rPr sz="1800">
                          <a:solidFill>
                            <a:srgbClr val="20211E"/>
                          </a:solidFill>
                          <a:latin typeface="Helvetica Neue"/>
                          <a:ea typeface="Helvetica Neue"/>
                          <a:cs typeface="Helvetica Neue"/>
                        </a:rPr>
                        <a:t>Fraunces (Soft)</a:t>
                      </a:r>
                    </a:p>
                    <a:p>
                      <a:r>
                        <a:rPr sz="1800">
                          <a:solidFill>
                            <a:srgbClr val="20211E"/>
                          </a:solidFill>
                          <a:latin typeface="Helvetica Neue"/>
                          <a:ea typeface="Helvetica Neue"/>
                          <a:cs typeface="Helvetica Neue"/>
                        </a:rPr>
                        <a:t>DM Sans</a:t>
                      </a:r>
                    </a:p>
                  </a:txBody>
                  <a:tcPr marL="114300" marR="114300" marT="95250" marB="95250" anchor="ctr">
                    <a:solidFill>
                      <a:srgbClr val="F6F5EF"/>
                    </a:solidFill>
                  </a:tcPr>
                </a:tc>
              </a:tr>
              <a:tr h="680085">
                <a:tc>
                  <a:txBody>
                    <a:bodyPr/>
                    <a:lstStyle/>
                    <a:p>
                      <a:r>
                        <a:rPr sz="1725" b="1">
                          <a:solidFill>
                            <a:srgbClr val="20211E"/>
                          </a:solidFill>
                          <a:latin typeface="Helvetica Neue"/>
                          <a:ea typeface="Helvetica Neue"/>
                          <a:cs typeface="Helvetica Neue"/>
                        </a:rPr>
                        <a:t>03 Build Club</a:t>
                      </a:r>
                    </a:p>
                  </a:txBody>
                  <a:tcPr marL="114300" marR="114300" marT="95250" marB="95250" anchor="ctr">
                    <a:solidFill>
                      <a:srgbClr val="F6F5EF"/>
                    </a:solidFill>
                  </a:tcPr>
                </a:tc>
                <a:tc>
                  <a:txBody>
                    <a:bodyPr wrap="none"/>
                    <a:lstStyle/>
                    <a:p>
                      <a:pPr algn="ctr"/>
                      <a:r>
                        <a:rPr sz="1650" b="1">
                          <a:solidFill>
                            <a:srgbClr val="FFFFFF"/>
                          </a:solidFill>
                          <a:latin typeface="Helvetica Neue"/>
                          <a:ea typeface="Helvetica Neue"/>
                          <a:cs typeface="Helvetica Neue"/>
                        </a:rPr>
                        <a:t>184B38</a:t>
                      </a:r>
                    </a:p>
                  </a:txBody>
                  <a:tcPr marL="114300" marR="114300" marT="95250" marB="95250" anchor="ctr">
                    <a:solidFill>
                      <a:srgbClr val="184B38"/>
                    </a:solidFill>
                  </a:tcPr>
                </a:tc>
                <a:tc>
                  <a:txBody>
                    <a:bodyPr wrap="none"/>
                    <a:lstStyle/>
                    <a:p>
                      <a:pPr algn="ctr"/>
                      <a:r>
                        <a:rPr sz="1650" b="1">
                          <a:solidFill>
                            <a:srgbClr val="171816"/>
                          </a:solidFill>
                          <a:latin typeface="Helvetica Neue"/>
                          <a:ea typeface="Helvetica Neue"/>
                          <a:cs typeface="Helvetica Neue"/>
                        </a:rPr>
                        <a:t>D4EE58</a:t>
                      </a:r>
                    </a:p>
                  </a:txBody>
                  <a:tcPr marL="114300" marR="114300" marT="95250" marB="95250" anchor="ctr">
                    <a:solidFill>
                      <a:srgbClr val="D4EE58"/>
                    </a:solidFill>
                  </a:tcPr>
                </a:tc>
                <a:tc>
                  <a:txBody>
                    <a:bodyPr wrap="none"/>
                    <a:lstStyle/>
                    <a:p>
                      <a:pPr algn="ctr"/>
                      <a:r>
                        <a:rPr sz="1650" b="1">
                          <a:solidFill>
                            <a:srgbClr val="171816"/>
                          </a:solidFill>
                          <a:latin typeface="Helvetica Neue"/>
                          <a:ea typeface="Helvetica Neue"/>
                          <a:cs typeface="Helvetica Neue"/>
                        </a:rPr>
                        <a:t>F4F3E8</a:t>
                      </a:r>
                    </a:p>
                  </a:txBody>
                  <a:tcPr marL="114300" marR="114300" marT="95250" marB="95250" anchor="ctr">
                    <a:solidFill>
                      <a:srgbClr val="F4F3E8"/>
                    </a:solidFill>
                  </a:tcPr>
                </a:tc>
                <a:tc>
                  <a:txBody>
                    <a:bodyPr wrap="none"/>
                    <a:lstStyle/>
                    <a:p>
                      <a:pPr algn="ctr"/>
                      <a:r>
                        <a:rPr sz="1650" b="1">
                          <a:solidFill>
                            <a:srgbClr val="FFFFFF"/>
                          </a:solidFill>
                          <a:latin typeface="Helvetica Neue"/>
                          <a:ea typeface="Helvetica Neue"/>
                          <a:cs typeface="Helvetica Neue"/>
                        </a:rPr>
                        <a:t>1D2923</a:t>
                      </a:r>
                    </a:p>
                  </a:txBody>
                  <a:tcPr marL="114300" marR="114300" marT="95250" marB="95250" anchor="ctr">
                    <a:solidFill>
                      <a:srgbClr val="1D2923"/>
                    </a:solidFill>
                  </a:tcPr>
                </a:tc>
                <a:tc>
                  <a:txBody>
                    <a:bodyPr/>
                    <a:lstStyle/>
                    <a:p>
                      <a:r>
                        <a:rPr sz="1800">
                          <a:solidFill>
                            <a:srgbClr val="20211E"/>
                          </a:solidFill>
                          <a:latin typeface="Helvetica Neue"/>
                          <a:ea typeface="Helvetica Neue"/>
                          <a:cs typeface="Helvetica Neue"/>
                        </a:rPr>
                        <a:t>Barlow Condensed</a:t>
                      </a:r>
                    </a:p>
                    <a:p>
                      <a:r>
                        <a:rPr sz="1800">
                          <a:solidFill>
                            <a:srgbClr val="20211E"/>
                          </a:solidFill>
                          <a:latin typeface="Helvetica Neue"/>
                          <a:ea typeface="Helvetica Neue"/>
                          <a:cs typeface="Helvetica Neue"/>
                        </a:rPr>
                        <a:t>DM Sans</a:t>
                      </a:r>
                    </a:p>
                  </a:txBody>
                  <a:tcPr marL="114300" marR="114300" marT="95250" marB="95250" anchor="ctr">
                    <a:solidFill>
                      <a:srgbClr val="F6F5EF"/>
                    </a:solidFill>
                  </a:tcPr>
                </a:tc>
              </a:tr>
              <a:tr h="680085">
                <a:tc>
                  <a:txBody>
                    <a:bodyPr/>
                    <a:lstStyle/>
                    <a:p>
                      <a:r>
                        <a:rPr sz="1725" b="1">
                          <a:solidFill>
                            <a:srgbClr val="20211E"/>
                          </a:solidFill>
                          <a:latin typeface="Helvetica Neue"/>
                          <a:ea typeface="Helvetica Neue"/>
                          <a:cs typeface="Helvetica Neue"/>
                        </a:rPr>
                        <a:t>04 Open Tabs</a:t>
                      </a:r>
                    </a:p>
                  </a:txBody>
                  <a:tcPr marL="114300" marR="114300" marT="95250" marB="95250" anchor="ctr">
                    <a:solidFill>
                      <a:srgbClr val="F6F5EF"/>
                    </a:solidFill>
                  </a:tcPr>
                </a:tc>
                <a:tc>
                  <a:txBody>
                    <a:bodyPr wrap="none"/>
                    <a:lstStyle/>
                    <a:p>
                      <a:pPr algn="ctr"/>
                      <a:r>
                        <a:rPr sz="1650" b="1">
                          <a:solidFill>
                            <a:srgbClr val="FFFFFF"/>
                          </a:solidFill>
                          <a:latin typeface="Helvetica Neue"/>
                          <a:ea typeface="Helvetica Neue"/>
                          <a:cs typeface="Helvetica Neue"/>
                        </a:rPr>
                        <a:t>51449B</a:t>
                      </a:r>
                    </a:p>
                  </a:txBody>
                  <a:tcPr marL="114300" marR="114300" marT="95250" marB="95250" anchor="ctr">
                    <a:solidFill>
                      <a:srgbClr val="51449B"/>
                    </a:solidFill>
                  </a:tcPr>
                </a:tc>
                <a:tc>
                  <a:txBody>
                    <a:bodyPr wrap="none"/>
                    <a:lstStyle/>
                    <a:p>
                      <a:pPr algn="ctr"/>
                      <a:r>
                        <a:rPr sz="1650" b="1">
                          <a:solidFill>
                            <a:srgbClr val="171816"/>
                          </a:solidFill>
                          <a:latin typeface="Helvetica Neue"/>
                          <a:ea typeface="Helvetica Neue"/>
                          <a:cs typeface="Helvetica Neue"/>
                        </a:rPr>
                        <a:t>ECE9FA</a:t>
                      </a:r>
                    </a:p>
                  </a:txBody>
                  <a:tcPr marL="114300" marR="114300" marT="95250" marB="95250" anchor="ctr">
                    <a:solidFill>
                      <a:srgbClr val="ECE9FA"/>
                    </a:solidFill>
                  </a:tcPr>
                </a:tc>
                <a:tc>
                  <a:txBody>
                    <a:bodyPr wrap="none"/>
                    <a:lstStyle/>
                    <a:p>
                      <a:pPr algn="ctr"/>
                      <a:r>
                        <a:rPr sz="1650" b="1">
                          <a:solidFill>
                            <a:srgbClr val="171816"/>
                          </a:solidFill>
                          <a:latin typeface="Helvetica Neue"/>
                          <a:ea typeface="Helvetica Neue"/>
                          <a:cs typeface="Helvetica Neue"/>
                        </a:rPr>
                        <a:t>F4DC78</a:t>
                      </a:r>
                    </a:p>
                  </a:txBody>
                  <a:tcPr marL="114300" marR="114300" marT="95250" marB="95250" anchor="ctr">
                    <a:solidFill>
                      <a:srgbClr val="F4DC78"/>
                    </a:solidFill>
                  </a:tcPr>
                </a:tc>
                <a:tc>
                  <a:txBody>
                    <a:bodyPr wrap="none"/>
                    <a:lstStyle/>
                    <a:p>
                      <a:pPr algn="ctr"/>
                      <a:r>
                        <a:rPr sz="1650" b="1">
                          <a:solidFill>
                            <a:srgbClr val="FFFFFF"/>
                          </a:solidFill>
                          <a:latin typeface="Helvetica Neue"/>
                          <a:ea typeface="Helvetica Neue"/>
                          <a:cs typeface="Helvetica Neue"/>
                        </a:rPr>
                        <a:t>302C3B</a:t>
                      </a:r>
                    </a:p>
                  </a:txBody>
                  <a:tcPr marL="114300" marR="114300" marT="95250" marB="95250" anchor="ctr">
                    <a:solidFill>
                      <a:srgbClr val="302C3B"/>
                    </a:solidFill>
                  </a:tcPr>
                </a:tc>
                <a:tc>
                  <a:txBody>
                    <a:bodyPr/>
                    <a:lstStyle/>
                    <a:p>
                      <a:r>
                        <a:rPr sz="1800">
                          <a:solidFill>
                            <a:srgbClr val="20211E"/>
                          </a:solidFill>
                          <a:latin typeface="Helvetica Neue"/>
                          <a:ea typeface="Helvetica Neue"/>
                          <a:cs typeface="Helvetica Neue"/>
                        </a:rPr>
                        <a:t>Space Grotesk</a:t>
                      </a:r>
                    </a:p>
                    <a:p>
                      <a:r>
                        <a:rPr sz="1800">
                          <a:solidFill>
                            <a:srgbClr val="20211E"/>
                          </a:solidFill>
                          <a:latin typeface="Helvetica Neue"/>
                          <a:ea typeface="Helvetica Neue"/>
                          <a:cs typeface="Helvetica Neue"/>
                        </a:rPr>
                        <a:t>IBM Plex Mono</a:t>
                      </a:r>
                    </a:p>
                  </a:txBody>
                  <a:tcPr marL="114300" marR="114300" marT="95250" marB="95250" anchor="ctr">
                    <a:solidFill>
                      <a:srgbClr val="F6F5EF"/>
                    </a:solidFill>
                  </a:tcPr>
                </a:tc>
              </a:tr>
              <a:tr h="680085">
                <a:tc>
                  <a:txBody>
                    <a:bodyPr/>
                    <a:lstStyle/>
                    <a:p>
                      <a:r>
                        <a:rPr sz="1725" b="1">
                          <a:solidFill>
                            <a:srgbClr val="20211E"/>
                          </a:solidFill>
                          <a:latin typeface="Helvetica Neue"/>
                          <a:ea typeface="Helvetica Neue"/>
                          <a:cs typeface="Helvetica Neue"/>
                        </a:rPr>
                        <a:t>05 Mark in Motion</a:t>
                      </a:r>
                    </a:p>
                  </a:txBody>
                  <a:tcPr marL="114300" marR="114300" marT="95250" marB="95250" anchor="ctr">
                    <a:solidFill>
                      <a:srgbClr val="F6F5EF"/>
                    </a:solidFill>
                  </a:tcPr>
                </a:tc>
                <a:tc>
                  <a:txBody>
                    <a:bodyPr wrap="none"/>
                    <a:lstStyle/>
                    <a:p>
                      <a:pPr algn="ctr"/>
                      <a:r>
                        <a:rPr sz="1650" b="1">
                          <a:solidFill>
                            <a:srgbClr val="171816"/>
                          </a:solidFill>
                          <a:latin typeface="Helvetica Neue"/>
                          <a:ea typeface="Helvetica Neue"/>
                          <a:cs typeface="Helvetica Neue"/>
                        </a:rPr>
                        <a:t>F16B32</a:t>
                      </a:r>
                    </a:p>
                  </a:txBody>
                  <a:tcPr marL="114300" marR="114300" marT="95250" marB="95250" anchor="ctr">
                    <a:solidFill>
                      <a:srgbClr val="F16B32"/>
                    </a:solidFill>
                  </a:tcPr>
                </a:tc>
                <a:tc>
                  <a:txBody>
                    <a:bodyPr wrap="none"/>
                    <a:lstStyle/>
                    <a:p>
                      <a:pPr algn="ctr"/>
                      <a:r>
                        <a:rPr sz="1650" b="1">
                          <a:solidFill>
                            <a:srgbClr val="171816"/>
                          </a:solidFill>
                          <a:latin typeface="Helvetica Neue"/>
                          <a:ea typeface="Helvetica Neue"/>
                          <a:cs typeface="Helvetica Neue"/>
                        </a:rPr>
                        <a:t>F0F0EA</a:t>
                      </a:r>
                    </a:p>
                  </a:txBody>
                  <a:tcPr marL="114300" marR="114300" marT="95250" marB="95250" anchor="ctr">
                    <a:solidFill>
                      <a:srgbClr val="F0F0EA"/>
                    </a:solidFill>
                  </a:tcPr>
                </a:tc>
                <a:tc>
                  <a:txBody>
                    <a:bodyPr wrap="none"/>
                    <a:lstStyle/>
                    <a:p>
                      <a:pPr algn="ctr"/>
                      <a:r>
                        <a:rPr sz="1650" b="1">
                          <a:solidFill>
                            <a:srgbClr val="FFFFFF"/>
                          </a:solidFill>
                          <a:latin typeface="Helvetica Neue"/>
                          <a:ea typeface="Helvetica Neue"/>
                          <a:cs typeface="Helvetica Neue"/>
                        </a:rPr>
                        <a:t>242424</a:t>
                      </a:r>
                    </a:p>
                  </a:txBody>
                  <a:tcPr marL="114300" marR="114300" marT="95250" marB="95250" anchor="ctr">
                    <a:solidFill>
                      <a:srgbClr val="242424"/>
                    </a:solidFill>
                  </a:tcPr>
                </a:tc>
                <a:tc>
                  <a:txBody>
                    <a:bodyPr wrap="none"/>
                    <a:lstStyle/>
                    <a:p>
                      <a:pPr algn="ctr"/>
                      <a:r>
                        <a:rPr sz="1650" b="1">
                          <a:solidFill>
                            <a:srgbClr val="171816"/>
                          </a:solidFill>
                          <a:latin typeface="Helvetica Neue"/>
                          <a:ea typeface="Helvetica Neue"/>
                          <a:cs typeface="Helvetica Neue"/>
                        </a:rPr>
                        <a:t>BCCFEA</a:t>
                      </a:r>
                    </a:p>
                  </a:txBody>
                  <a:tcPr marL="114300" marR="114300" marT="95250" marB="95250" anchor="ctr">
                    <a:solidFill>
                      <a:srgbClr val="BCCFEA"/>
                    </a:solidFill>
                  </a:tcPr>
                </a:tc>
                <a:tc>
                  <a:txBody>
                    <a:bodyPr/>
                    <a:lstStyle/>
                    <a:p>
                      <a:r>
                        <a:rPr sz="1800">
                          <a:solidFill>
                            <a:srgbClr val="20211E"/>
                          </a:solidFill>
                          <a:latin typeface="Helvetica Neue"/>
                          <a:ea typeface="Helvetica Neue"/>
                          <a:cs typeface="Helvetica Neue"/>
                        </a:rPr>
                        <a:t>Archivo Black</a:t>
                      </a:r>
                    </a:p>
                    <a:p>
                      <a:r>
                        <a:rPr sz="1800">
                          <a:solidFill>
                            <a:srgbClr val="20211E"/>
                          </a:solidFill>
                          <a:latin typeface="Helvetica Neue"/>
                          <a:ea typeface="Helvetica Neue"/>
                          <a:cs typeface="Helvetica Neue"/>
                        </a:rPr>
                        <a:t>DM Sans</a:t>
                      </a:r>
                    </a:p>
                  </a:txBody>
                  <a:tcPr marL="114300" marR="114300" marT="95250" marB="95250" anchor="ctr">
                    <a:solidFill>
                      <a:srgbClr val="F6F5EF"/>
                    </a:solidFill>
                  </a:tcPr>
                </a:tc>
              </a:tr>
            </a:tbl>
          </a:graphicData>
        </a:graphic>
      </p:graphicFrame>
      <p:sp>
        <p:nvSpPr>
          <p:cNvPr id="4" name="Fraunces uses its Soft variation. T">
            <a:extLst xmlns:a="http://schemas.openxmlformats.org/drawingml/2006/main">
              <a:ext uri="{FF2B5EF4-FFF2-40B4-BE49-F238E27FC236}">
                <a16:creationId xmlns:a16="http://schemas.microsoft.com/office/drawing/2014/main" id="{9E9104C5-2F12-4FCC-8E03-5AC44A5726A0}"/>
              </a:ext>
            </a:extLst>
          </p:cNvPr>
          <p:cNvSpPr>
            <a:spLocks xmlns:a="http://schemas.openxmlformats.org/drawingml/2006/main" noGrp="1"/>
          </p:cNvSpPr>
          <p:nvPr/>
        </p:nvSpPr>
        <p:spPr>
          <a:xfrm xmlns:a="http://schemas.openxmlformats.org/drawingml/2006/main">
            <a:off x="609600" y="6686550"/>
            <a:ext cx="10210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50" b="0" i="0">
                <a:solidFill>
                  <a:srgbClr val="62665E"/>
                </a:solidFill>
                <a:latin typeface="Helvetica Neue"/>
                <a:ea typeface="Helvetica Neue"/>
                <a:cs typeface="Helvetica Neue"/>
              </a:defRPr>
            </a:defPPr>
          </a:lstStyle>
          <a:p xmlns:a="http://schemas.openxmlformats.org/drawingml/2006/main">
            <a:pPr>
              <a:defRPr sz="1650" b="0" i="0">
                <a:solidFill>
                  <a:srgbClr val="62665E"/>
                </a:solidFill>
                <a:latin typeface="Helvetica Neue"/>
                <a:ea typeface="Helvetica Neue"/>
                <a:cs typeface="Helvetica Neue"/>
              </a:defRPr>
            </a:pPr>
            <a:r>
              <a:rPr sz="1650" b="0" i="0">
                <a:solidFill>
                  <a:srgbClr val="62665E"/>
                </a:solidFill>
                <a:latin typeface="Helvetica Neue"/>
                <a:ea typeface="Helvetica Neue"/>
                <a:cs typeface="Helvetica Neue"/>
              </a:rPr>
              <a:t>Fraunces uses its Soft variation. These are font proposals for the final system.</a:t>
            </a:r>
          </a:p>
        </p:txBody>
      </p:sp>
      <p:sp>
        <p:nvSpPr>
          <p:cNvPr id="5" name="Mark Renzo / Brand directions">
            <a:extLst xmlns:a="http://schemas.openxmlformats.org/drawingml/2006/main">
              <a:ext uri="{FF2B5EF4-FFF2-40B4-BE49-F238E27FC236}">
                <a16:creationId xmlns:a16="http://schemas.microsoft.com/office/drawing/2014/main" id="{842CFF9C-D8FF-463B-BAF2-B0324A11B0AE}"/>
              </a:ext>
            </a:extLst>
          </p:cNvPr>
          <p:cNvSpPr>
            <a:spLocks xmlns:a="http://schemas.openxmlformats.org/drawingml/2006/main" noGrp="1"/>
          </p:cNvSpPr>
          <p:nvPr/>
        </p:nvSpPr>
        <p:spPr>
          <a:xfrm xmlns:a="http://schemas.openxmlformats.org/drawingml/2006/main">
            <a:off x="609600" y="7181850"/>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i="0">
                <a:solidFill>
                  <a:srgbClr val="62665E"/>
                </a:solidFill>
                <a:latin typeface="Helvetica Neue"/>
                <a:ea typeface="Helvetica Neue"/>
                <a:cs typeface="Helvetica Neue"/>
              </a:defRPr>
            </a:defPPr>
          </a:lstStyle>
          <a:p xmlns:a="http://schemas.openxmlformats.org/drawingml/2006/main">
            <a:pPr>
              <a:defRPr sz="1275" b="0" i="0">
                <a:solidFill>
                  <a:srgbClr val="62665E"/>
                </a:solidFill>
                <a:latin typeface="Helvetica Neue"/>
                <a:ea typeface="Helvetica Neue"/>
                <a:cs typeface="Helvetica Neue"/>
              </a:defRPr>
            </a:pPr>
            <a:r>
              <a:rPr sz="1275" b="0" i="0">
                <a:solidFill>
                  <a:srgbClr val="62665E"/>
                </a:solidFill>
                <a:latin typeface="Helvetica Neue"/>
                <a:ea typeface="Helvetica Neue"/>
                <a:cs typeface="Helvetica Neue"/>
              </a:rPr>
              <a:t>Mark Renzo / Brand directions</a:t>
            </a:r>
          </a:p>
        </p:txBody>
      </p:sp>
      <p:sp>
        <p:nvSpPr>
          <p:cNvPr id="6" name="08">
            <a:extLst xmlns:a="http://schemas.openxmlformats.org/drawingml/2006/main">
              <a:ext uri="{FF2B5EF4-FFF2-40B4-BE49-F238E27FC236}">
                <a16:creationId xmlns:a16="http://schemas.microsoft.com/office/drawing/2014/main" id="{896127BA-DFD7-4B91-9B85-A1A378B48709}"/>
              </a:ext>
            </a:extLst>
          </p:cNvPr>
          <p:cNvSpPr>
            <a:spLocks xmlns:a="http://schemas.openxmlformats.org/drawingml/2006/main" noGrp="1"/>
          </p:cNvSpPr>
          <p:nvPr/>
        </p:nvSpPr>
        <p:spPr>
          <a:xfrm xmlns:a="http://schemas.openxmlformats.org/drawingml/2006/main">
            <a:off x="10382250" y="7181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i="0">
                <a:solidFill>
                  <a:srgbClr val="62665E"/>
                </a:solidFill>
                <a:latin typeface="Helvetica Neue"/>
                <a:ea typeface="Helvetica Neue"/>
                <a:cs typeface="Helvetica Neue"/>
              </a:defRPr>
            </a:defPPr>
          </a:lstStyle>
          <a:p xmlns:a="http://schemas.openxmlformats.org/drawingml/2006/main">
            <a:pPr algn="r">
              <a:defRPr sz="1275" b="0" i="0">
                <a:solidFill>
                  <a:srgbClr val="62665E"/>
                </a:solidFill>
                <a:latin typeface="Helvetica Neue"/>
                <a:ea typeface="Helvetica Neue"/>
                <a:cs typeface="Helvetica Neue"/>
              </a:defRPr>
            </a:pPr>
            <a:r>
              <a:rPr sz="1275" b="0" i="0">
                <a:solidFill>
                  <a:srgbClr val="62665E"/>
                </a:solidFill>
                <a:latin typeface="Helvetica Neue"/>
                <a:ea typeface="Helvetica Neue"/>
                <a:cs typeface="Helvetica Neue"/>
              </a:rPr>
              <a:t>08</a:t>
            </a:r>
          </a:p>
        </p:txBody>
      </p:sp>
    </p:spTree>
    <p:extLst>
      <p:ext uri="{BB962C8B-B14F-4D97-AF65-F5344CB8AC3E}">
        <p14:creationId xmlns:p14="http://schemas.microsoft.com/office/powerpoint/2010/main" val="1107006699"/>
      </p:ext>
    </p:extLst>
  </p:cSld>
</p:sld>
</file>

<file path=ppt/slides/slide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20" name="A brand you can play with">
            <a:extLst xmlns:a="http://schemas.openxmlformats.org/drawingml/2006/main">
              <a:ext uri="{FF2B5EF4-FFF2-40B4-BE49-F238E27FC236}">
                <a16:creationId xmlns:a16="http://schemas.microsoft.com/office/drawing/2014/main" id="{A21A8FE9-A887-4419-9598-89828A82B63C}"/>
              </a:ext>
            </a:extLst>
          </p:cNvPr>
          <p:cNvSpPr>
            <a:spLocks xmlns:a="http://schemas.openxmlformats.org/drawingml/2006/main" noGrp="1"/>
          </p:cNvSpPr>
          <p:nvPr/>
        </p:nvSpPr>
        <p:spPr>
          <a:xfrm xmlns:a="http://schemas.openxmlformats.org/drawingml/2006/main">
            <a:off x="609600" y="590550"/>
            <a:ext cx="1021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350" b="1" i="0">
                <a:solidFill>
                  <a:srgbClr val="20211E"/>
                </a:solidFill>
                <a:latin typeface="Helvetica Neue"/>
                <a:ea typeface="Helvetica Neue"/>
                <a:cs typeface="Helvetica Neue"/>
              </a:defRPr>
            </a:defPPr>
          </a:lstStyle>
          <a:p xmlns:a="http://schemas.openxmlformats.org/drawingml/2006/main">
            <a:pPr>
              <a:defRPr sz="4350" b="1" i="0">
                <a:solidFill>
                  <a:srgbClr val="20211E"/>
                </a:solidFill>
                <a:latin typeface="Helvetica Neue"/>
                <a:ea typeface="Helvetica Neue"/>
                <a:cs typeface="Helvetica Neue"/>
              </a:defRPr>
            </a:pPr>
            <a:r>
              <a:rPr sz="4350" b="1" i="0">
                <a:solidFill>
                  <a:srgbClr val="20211E"/>
                </a:solidFill>
                <a:latin typeface="Helvetica Neue"/>
                <a:ea typeface="Helvetica Neue"/>
                <a:cs typeface="Helvetica Neue"/>
              </a:rPr>
              <a:t>A brand you can play with</a:t>
            </a:r>
          </a:p>
        </p:txBody>
      </p:sp>
      <p:sp>
        <p:nvSpPr>
          <p:cNvPr id="2" name="Planned website behavior">
            <a:extLst xmlns:a="http://schemas.openxmlformats.org/drawingml/2006/main">
              <a:ext uri="{FF2B5EF4-FFF2-40B4-BE49-F238E27FC236}">
                <a16:creationId xmlns:a16="http://schemas.microsoft.com/office/drawing/2014/main" id="{47BED3C9-DACC-4C52-9E76-3D4FA9B4BBED}"/>
              </a:ext>
            </a:extLst>
          </p:cNvPr>
          <p:cNvSpPr>
            <a:spLocks xmlns:a="http://schemas.openxmlformats.org/drawingml/2006/main" noGrp="1"/>
          </p:cNvSpPr>
          <p:nvPr/>
        </p:nvSpPr>
        <p:spPr>
          <a:xfrm xmlns:a="http://schemas.openxmlformats.org/drawingml/2006/main">
            <a:off x="609600" y="1419225"/>
            <a:ext cx="10210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i="0">
                <a:solidFill>
                  <a:srgbClr val="62665E"/>
                </a:solidFill>
                <a:latin typeface="Helvetica Neue"/>
                <a:ea typeface="Helvetica Neue"/>
                <a:cs typeface="Helvetica Neue"/>
              </a:defRPr>
            </a:defPPr>
          </a:lstStyle>
          <a:p xmlns:a="http://schemas.openxmlformats.org/drawingml/2006/main">
            <a:pPr>
              <a:defRPr sz="1875" b="0" i="0">
                <a:solidFill>
                  <a:srgbClr val="62665E"/>
                </a:solidFill>
                <a:latin typeface="Helvetica Neue"/>
                <a:ea typeface="Helvetica Neue"/>
                <a:cs typeface="Helvetica Neue"/>
              </a:defRPr>
            </a:pPr>
            <a:r>
              <a:rPr sz="1875" b="0" i="0">
                <a:solidFill>
                  <a:srgbClr val="62665E"/>
                </a:solidFill>
                <a:latin typeface="Helvetica Neue"/>
                <a:ea typeface="Helvetica Neue"/>
                <a:cs typeface="Helvetica Neue"/>
              </a:rPr>
              <a:t>Planned website behavior</a:t>
            </a:r>
          </a:p>
        </p:txBody>
      </p:sp>
      <p:sp>
        <p:nvSpPr>
          <p:cNvPr id="3" name="01">
            <a:extLst xmlns:a="http://schemas.openxmlformats.org/drawingml/2006/main">
              <a:ext uri="{FF2B5EF4-FFF2-40B4-BE49-F238E27FC236}">
                <a16:creationId xmlns:a16="http://schemas.microsoft.com/office/drawing/2014/main" id="{64EAB436-91AB-4A5C-A72D-2BA304BF6A80}"/>
              </a:ext>
            </a:extLst>
          </p:cNvPr>
          <p:cNvSpPr>
            <a:spLocks xmlns:a="http://schemas.openxmlformats.org/drawingml/2006/main" noGrp="1"/>
          </p:cNvSpPr>
          <p:nvPr/>
        </p:nvSpPr>
        <p:spPr>
          <a:xfrm xmlns:a="http://schemas.openxmlformats.org/drawingml/2006/main">
            <a:off x="628650" y="22193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0" i="0">
                <a:solidFill>
                  <a:srgbClr val="2453FF"/>
                </a:solidFill>
                <a:latin typeface="Helvetica Neue"/>
                <a:ea typeface="Helvetica Neue"/>
                <a:cs typeface="Helvetica Neue"/>
              </a:defRPr>
            </a:defPPr>
          </a:lstStyle>
          <a:p xmlns:a="http://schemas.openxmlformats.org/drawingml/2006/main">
            <a:pPr>
              <a:defRPr sz="3150" b="0" i="0">
                <a:solidFill>
                  <a:srgbClr val="2453FF"/>
                </a:solidFill>
                <a:latin typeface="Helvetica Neue"/>
                <a:ea typeface="Helvetica Neue"/>
                <a:cs typeface="Helvetica Neue"/>
              </a:defRPr>
            </a:pPr>
            <a:r>
              <a:rPr sz="3150" b="0" i="0">
                <a:solidFill>
                  <a:srgbClr val="2453FF"/>
                </a:solidFill>
                <a:latin typeface="Helvetica Neue"/>
                <a:ea typeface="Helvetica Neue"/>
                <a:cs typeface="Helvetica Neue"/>
              </a:rPr>
              <a:t>01</a:t>
            </a:r>
          </a:p>
        </p:txBody>
      </p:sp>
      <p:sp>
        <p:nvSpPr>
          <p:cNvPr id="4" name="A personal guide">
            <a:extLst xmlns:a="http://schemas.openxmlformats.org/drawingml/2006/main">
              <a:ext uri="{FF2B5EF4-FFF2-40B4-BE49-F238E27FC236}">
                <a16:creationId xmlns:a16="http://schemas.microsoft.com/office/drawing/2014/main" id="{DD7E5479-6A3D-4002-BD78-43336B4B0929}"/>
              </a:ext>
            </a:extLst>
          </p:cNvPr>
          <p:cNvSpPr>
            <a:spLocks xmlns:a="http://schemas.openxmlformats.org/drawingml/2006/main" noGrp="1"/>
          </p:cNvSpPr>
          <p:nvPr/>
        </p:nvSpPr>
        <p:spPr>
          <a:xfrm xmlns:a="http://schemas.openxmlformats.org/drawingml/2006/main">
            <a:off x="1562100" y="2266950"/>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i="0">
                <a:solidFill>
                  <a:srgbClr val="20211E"/>
                </a:solidFill>
                <a:latin typeface="Helvetica Neue"/>
                <a:ea typeface="Helvetica Neue"/>
                <a:cs typeface="Helvetica Neue"/>
              </a:defRPr>
            </a:defPPr>
          </a:lstStyle>
          <a:p xmlns:a="http://schemas.openxmlformats.org/drawingml/2006/main">
            <a:pPr>
              <a:defRPr sz="2175" b="1" i="0">
                <a:solidFill>
                  <a:srgbClr val="20211E"/>
                </a:solidFill>
                <a:latin typeface="Helvetica Neue"/>
                <a:ea typeface="Helvetica Neue"/>
                <a:cs typeface="Helvetica Neue"/>
              </a:defRPr>
            </a:pPr>
            <a:r>
              <a:rPr sz="2175" b="1" i="0">
                <a:solidFill>
                  <a:srgbClr val="20211E"/>
                </a:solidFill>
                <a:latin typeface="Helvetica Neue"/>
                <a:ea typeface="Helvetica Neue"/>
                <a:cs typeface="Helvetica Neue"/>
              </a:rPr>
              <a:t>A personal guide</a:t>
            </a:r>
          </a:p>
        </p:txBody>
      </p:sp>
      <p:sp>
        <p:nvSpPr>
          <p:cNvPr id="5" name="Ask about Courtfolio. The AI scroll">
            <a:extLst xmlns:a="http://schemas.openxmlformats.org/drawingml/2006/main">
              <a:ext uri="{FF2B5EF4-FFF2-40B4-BE49-F238E27FC236}">
                <a16:creationId xmlns:a16="http://schemas.microsoft.com/office/drawing/2014/main" id="{AAB5A5E0-704A-4915-BD26-6AB5C0C2D0BA}"/>
              </a:ext>
            </a:extLst>
          </p:cNvPr>
          <p:cNvSpPr>
            <a:spLocks xmlns:a="http://schemas.openxmlformats.org/drawingml/2006/main" noGrp="1"/>
          </p:cNvSpPr>
          <p:nvPr/>
        </p:nvSpPr>
        <p:spPr>
          <a:xfrm xmlns:a="http://schemas.openxmlformats.org/drawingml/2006/main">
            <a:off x="5810250" y="2238375"/>
            <a:ext cx="5010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i="0">
                <a:solidFill>
                  <a:srgbClr val="62665E"/>
                </a:solidFill>
                <a:latin typeface="Helvetica Neue"/>
                <a:ea typeface="Helvetica Neue"/>
                <a:cs typeface="Helvetica Neue"/>
              </a:defRPr>
            </a:defPPr>
          </a:lstStyle>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Ask about Courtfolio. The AI scrolls to its</a:t>
            </a:r>
          </a:p>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project and triggers a relevant animation.</a:t>
            </a:r>
          </a:p>
        </p:txBody>
      </p:sp>
      <p:sp>
        <p:nvSpPr>
          <p:cNvPr id="6" name="02">
            <a:extLst xmlns:a="http://schemas.openxmlformats.org/drawingml/2006/main">
              <a:ext uri="{FF2B5EF4-FFF2-40B4-BE49-F238E27FC236}">
                <a16:creationId xmlns:a16="http://schemas.microsoft.com/office/drawing/2014/main" id="{A62C9E37-0696-4158-B69E-F66E225834A7}"/>
              </a:ext>
            </a:extLst>
          </p:cNvPr>
          <p:cNvSpPr>
            <a:spLocks xmlns:a="http://schemas.openxmlformats.org/drawingml/2006/main" noGrp="1"/>
          </p:cNvSpPr>
          <p:nvPr/>
        </p:nvSpPr>
        <p:spPr>
          <a:xfrm xmlns:a="http://schemas.openxmlformats.org/drawingml/2006/main">
            <a:off x="628650" y="31242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0" i="0">
                <a:solidFill>
                  <a:srgbClr val="2453FF"/>
                </a:solidFill>
                <a:latin typeface="Helvetica Neue"/>
                <a:ea typeface="Helvetica Neue"/>
                <a:cs typeface="Helvetica Neue"/>
              </a:defRPr>
            </a:defPPr>
          </a:lstStyle>
          <a:p xmlns:a="http://schemas.openxmlformats.org/drawingml/2006/main">
            <a:pPr>
              <a:defRPr sz="3150" b="0" i="0">
                <a:solidFill>
                  <a:srgbClr val="2453FF"/>
                </a:solidFill>
                <a:latin typeface="Helvetica Neue"/>
                <a:ea typeface="Helvetica Neue"/>
                <a:cs typeface="Helvetica Neue"/>
              </a:defRPr>
            </a:pPr>
            <a:r>
              <a:rPr sz="3150" b="0" i="0">
                <a:solidFill>
                  <a:srgbClr val="2453FF"/>
                </a:solidFill>
                <a:latin typeface="Helvetica Neue"/>
                <a:ea typeface="Helvetica Neue"/>
                <a:cs typeface="Helvetica Neue"/>
              </a:rPr>
              <a:t>02</a:t>
            </a:r>
          </a:p>
        </p:txBody>
      </p:sp>
      <p:sp>
        <p:nvSpPr>
          <p:cNvPr id="7" name="Projects on their own">
            <a:extLst xmlns:a="http://schemas.openxmlformats.org/drawingml/2006/main">
              <a:ext uri="{FF2B5EF4-FFF2-40B4-BE49-F238E27FC236}">
                <a16:creationId xmlns:a16="http://schemas.microsoft.com/office/drawing/2014/main" id="{E1B77D45-D2A0-4049-A5D9-6EA49898DB40}"/>
              </a:ext>
            </a:extLst>
          </p:cNvPr>
          <p:cNvSpPr>
            <a:spLocks xmlns:a="http://schemas.openxmlformats.org/drawingml/2006/main" noGrp="1"/>
          </p:cNvSpPr>
          <p:nvPr/>
        </p:nvSpPr>
        <p:spPr>
          <a:xfrm xmlns:a="http://schemas.openxmlformats.org/drawingml/2006/main">
            <a:off x="1562100" y="31718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i="0">
                <a:solidFill>
                  <a:srgbClr val="20211E"/>
                </a:solidFill>
                <a:latin typeface="Helvetica Neue"/>
                <a:ea typeface="Helvetica Neue"/>
                <a:cs typeface="Helvetica Neue"/>
              </a:defRPr>
            </a:defPPr>
          </a:lstStyle>
          <a:p xmlns:a="http://schemas.openxmlformats.org/drawingml/2006/main">
            <a:pPr>
              <a:defRPr sz="2175" b="1" i="0">
                <a:solidFill>
                  <a:srgbClr val="20211E"/>
                </a:solidFill>
                <a:latin typeface="Helvetica Neue"/>
                <a:ea typeface="Helvetica Neue"/>
                <a:cs typeface="Helvetica Neue"/>
              </a:defRPr>
            </a:pPr>
            <a:r>
              <a:rPr sz="2175" b="1" i="0">
                <a:solidFill>
                  <a:srgbClr val="20211E"/>
                </a:solidFill>
                <a:latin typeface="Helvetica Neue"/>
                <a:ea typeface="Helvetica Neue"/>
                <a:cs typeface="Helvetica Neue"/>
              </a:rPr>
              <a:t>Projects on their own</a:t>
            </a:r>
          </a:p>
        </p:txBody>
      </p:sp>
      <p:sp>
        <p:nvSpPr>
          <p:cNvPr id="8" name="Browse clear project stories withou">
            <a:extLst xmlns:a="http://schemas.openxmlformats.org/drawingml/2006/main">
              <a:ext uri="{FF2B5EF4-FFF2-40B4-BE49-F238E27FC236}">
                <a16:creationId xmlns:a16="http://schemas.microsoft.com/office/drawing/2014/main" id="{A17013AC-EB74-4876-A508-369862233403}"/>
              </a:ext>
            </a:extLst>
          </p:cNvPr>
          <p:cNvSpPr>
            <a:spLocks xmlns:a="http://schemas.openxmlformats.org/drawingml/2006/main" noGrp="1"/>
          </p:cNvSpPr>
          <p:nvPr/>
        </p:nvSpPr>
        <p:spPr>
          <a:xfrm xmlns:a="http://schemas.openxmlformats.org/drawingml/2006/main">
            <a:off x="5810250" y="3143250"/>
            <a:ext cx="5010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i="0">
                <a:solidFill>
                  <a:srgbClr val="62665E"/>
                </a:solidFill>
                <a:latin typeface="Helvetica Neue"/>
                <a:ea typeface="Helvetica Neue"/>
                <a:cs typeface="Helvetica Neue"/>
              </a:defRPr>
            </a:defPPr>
          </a:lstStyle>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Browse clear project stories without</a:t>
            </a:r>
          </a:p>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starting a conversation.</a:t>
            </a:r>
          </a:p>
        </p:txBody>
      </p:sp>
      <p:sp>
        <p:nvSpPr>
          <p:cNvPr id="9" name="03">
            <a:extLst xmlns:a="http://schemas.openxmlformats.org/drawingml/2006/main">
              <a:ext uri="{FF2B5EF4-FFF2-40B4-BE49-F238E27FC236}">
                <a16:creationId xmlns:a16="http://schemas.microsoft.com/office/drawing/2014/main" id="{6366F388-25DF-4DBB-865E-AD55F05D8C45}"/>
              </a:ext>
            </a:extLst>
          </p:cNvPr>
          <p:cNvSpPr>
            <a:spLocks xmlns:a="http://schemas.openxmlformats.org/drawingml/2006/main" noGrp="1"/>
          </p:cNvSpPr>
          <p:nvPr/>
        </p:nvSpPr>
        <p:spPr>
          <a:xfrm xmlns:a="http://schemas.openxmlformats.org/drawingml/2006/main">
            <a:off x="628650" y="40290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0" i="0">
                <a:solidFill>
                  <a:srgbClr val="2453FF"/>
                </a:solidFill>
                <a:latin typeface="Helvetica Neue"/>
                <a:ea typeface="Helvetica Neue"/>
                <a:cs typeface="Helvetica Neue"/>
              </a:defRPr>
            </a:defPPr>
          </a:lstStyle>
          <a:p xmlns:a="http://schemas.openxmlformats.org/drawingml/2006/main">
            <a:pPr>
              <a:defRPr sz="3150" b="0" i="0">
                <a:solidFill>
                  <a:srgbClr val="2453FF"/>
                </a:solidFill>
                <a:latin typeface="Helvetica Neue"/>
                <a:ea typeface="Helvetica Neue"/>
                <a:cs typeface="Helvetica Neue"/>
              </a:defRPr>
            </a:pPr>
            <a:r>
              <a:rPr sz="3150" b="0" i="0">
                <a:solidFill>
                  <a:srgbClr val="2453FF"/>
                </a:solidFill>
                <a:latin typeface="Helvetica Neue"/>
                <a:ea typeface="Helvetica Neue"/>
                <a:cs typeface="Helvetica Neue"/>
              </a:rPr>
              <a:t>03</a:t>
            </a:r>
          </a:p>
        </p:txBody>
      </p:sp>
      <p:sp>
        <p:nvSpPr>
          <p:cNvPr id="10" name="A living sticker desk">
            <a:extLst xmlns:a="http://schemas.openxmlformats.org/drawingml/2006/main">
              <a:ext uri="{FF2B5EF4-FFF2-40B4-BE49-F238E27FC236}">
                <a16:creationId xmlns:a16="http://schemas.microsoft.com/office/drawing/2014/main" id="{F6549EB5-6B4B-47EB-BC6B-CF898BA8AC10}"/>
              </a:ext>
            </a:extLst>
          </p:cNvPr>
          <p:cNvSpPr>
            <a:spLocks xmlns:a="http://schemas.openxmlformats.org/drawingml/2006/main" noGrp="1"/>
          </p:cNvSpPr>
          <p:nvPr/>
        </p:nvSpPr>
        <p:spPr>
          <a:xfrm xmlns:a="http://schemas.openxmlformats.org/drawingml/2006/main">
            <a:off x="1562100" y="4076700"/>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i="0">
                <a:solidFill>
                  <a:srgbClr val="20211E"/>
                </a:solidFill>
                <a:latin typeface="Helvetica Neue"/>
                <a:ea typeface="Helvetica Neue"/>
                <a:cs typeface="Helvetica Neue"/>
              </a:defRPr>
            </a:defPPr>
          </a:lstStyle>
          <a:p xmlns:a="http://schemas.openxmlformats.org/drawingml/2006/main">
            <a:pPr>
              <a:defRPr sz="2175" b="1" i="0">
                <a:solidFill>
                  <a:srgbClr val="20211E"/>
                </a:solidFill>
                <a:latin typeface="Helvetica Neue"/>
                <a:ea typeface="Helvetica Neue"/>
                <a:cs typeface="Helvetica Neue"/>
              </a:defRPr>
            </a:pPr>
            <a:r>
              <a:rPr sz="2175" b="1" i="0">
                <a:solidFill>
                  <a:srgbClr val="20211E"/>
                </a:solidFill>
                <a:latin typeface="Helvetica Neue"/>
                <a:ea typeface="Helvetica Neue"/>
                <a:cs typeface="Helvetica Neue"/>
              </a:rPr>
              <a:t>A living sticker desk</a:t>
            </a:r>
          </a:p>
        </p:txBody>
      </p:sp>
      <p:sp>
        <p:nvSpPr>
          <p:cNvPr id="11" name="Drag photo stickers, rearrange obje">
            <a:extLst xmlns:a="http://schemas.openxmlformats.org/drawingml/2006/main">
              <a:ext uri="{FF2B5EF4-FFF2-40B4-BE49-F238E27FC236}">
                <a16:creationId xmlns:a16="http://schemas.microsoft.com/office/drawing/2014/main" id="{D617DC7E-0375-4F70-8146-3F754C0E4176}"/>
              </a:ext>
            </a:extLst>
          </p:cNvPr>
          <p:cNvSpPr>
            <a:spLocks xmlns:a="http://schemas.openxmlformats.org/drawingml/2006/main" noGrp="1"/>
          </p:cNvSpPr>
          <p:nvPr/>
        </p:nvSpPr>
        <p:spPr>
          <a:xfrm xmlns:a="http://schemas.openxmlformats.org/drawingml/2006/main">
            <a:off x="5810250" y="4048125"/>
            <a:ext cx="5010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i="0">
                <a:solidFill>
                  <a:srgbClr val="62665E"/>
                </a:solidFill>
                <a:latin typeface="Helvetica Neue"/>
                <a:ea typeface="Helvetica Neue"/>
                <a:cs typeface="Helvetica Neue"/>
              </a:defRPr>
            </a:defPPr>
          </a:lstStyle>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Drag photo stickers, rearrange objects</a:t>
            </a:r>
          </a:p>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and let them snap into playful places.</a:t>
            </a:r>
          </a:p>
        </p:txBody>
      </p:sp>
      <p:sp>
        <p:nvSpPr>
          <p:cNvPr id="12" name="04">
            <a:extLst xmlns:a="http://schemas.openxmlformats.org/drawingml/2006/main">
              <a:ext uri="{FF2B5EF4-FFF2-40B4-BE49-F238E27FC236}">
                <a16:creationId xmlns:a16="http://schemas.microsoft.com/office/drawing/2014/main" id="{7FF99F11-13B6-40B2-8172-AAD0CE64A0F2}"/>
              </a:ext>
            </a:extLst>
          </p:cNvPr>
          <p:cNvSpPr>
            <a:spLocks xmlns:a="http://schemas.openxmlformats.org/drawingml/2006/main" noGrp="1"/>
          </p:cNvSpPr>
          <p:nvPr/>
        </p:nvSpPr>
        <p:spPr>
          <a:xfrm xmlns:a="http://schemas.openxmlformats.org/drawingml/2006/main">
            <a:off x="628650" y="49339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0" i="0">
                <a:solidFill>
                  <a:srgbClr val="2453FF"/>
                </a:solidFill>
                <a:latin typeface="Helvetica Neue"/>
                <a:ea typeface="Helvetica Neue"/>
                <a:cs typeface="Helvetica Neue"/>
              </a:defRPr>
            </a:defPPr>
          </a:lstStyle>
          <a:p xmlns:a="http://schemas.openxmlformats.org/drawingml/2006/main">
            <a:pPr>
              <a:defRPr sz="3150" b="0" i="0">
                <a:solidFill>
                  <a:srgbClr val="2453FF"/>
                </a:solidFill>
                <a:latin typeface="Helvetica Neue"/>
                <a:ea typeface="Helvetica Neue"/>
                <a:cs typeface="Helvetica Neue"/>
              </a:defRPr>
            </a:pPr>
            <a:r>
              <a:rPr sz="3150" b="0" i="0">
                <a:solidFill>
                  <a:srgbClr val="2453FF"/>
                </a:solidFill>
                <a:latin typeface="Helvetica Neue"/>
                <a:ea typeface="Helvetica Neue"/>
                <a:cs typeface="Helvetica Neue"/>
              </a:rPr>
              <a:t>04</a:t>
            </a:r>
          </a:p>
        </p:txBody>
      </p:sp>
      <p:sp>
        <p:nvSpPr>
          <p:cNvPr id="13" name="A small preview of an idea">
            <a:extLst xmlns:a="http://schemas.openxmlformats.org/drawingml/2006/main">
              <a:ext uri="{FF2B5EF4-FFF2-40B4-BE49-F238E27FC236}">
                <a16:creationId xmlns:a16="http://schemas.microsoft.com/office/drawing/2014/main" id="{68359026-3746-4601-A6B8-DCDF214DE759}"/>
              </a:ext>
            </a:extLst>
          </p:cNvPr>
          <p:cNvSpPr>
            <a:spLocks xmlns:a="http://schemas.openxmlformats.org/drawingml/2006/main" noGrp="1"/>
          </p:cNvSpPr>
          <p:nvPr/>
        </p:nvSpPr>
        <p:spPr>
          <a:xfrm xmlns:a="http://schemas.openxmlformats.org/drawingml/2006/main">
            <a:off x="1562100" y="498157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i="0">
                <a:solidFill>
                  <a:srgbClr val="20211E"/>
                </a:solidFill>
                <a:latin typeface="Helvetica Neue"/>
                <a:ea typeface="Helvetica Neue"/>
                <a:cs typeface="Helvetica Neue"/>
              </a:defRPr>
            </a:defPPr>
          </a:lstStyle>
          <a:p xmlns:a="http://schemas.openxmlformats.org/drawingml/2006/main">
            <a:pPr>
              <a:defRPr sz="2175" b="1" i="0">
                <a:solidFill>
                  <a:srgbClr val="20211E"/>
                </a:solidFill>
                <a:latin typeface="Helvetica Neue"/>
                <a:ea typeface="Helvetica Neue"/>
                <a:cs typeface="Helvetica Neue"/>
              </a:defRPr>
            </a:pPr>
            <a:r>
              <a:rPr sz="2175" b="1" i="0">
                <a:solidFill>
                  <a:srgbClr val="20211E"/>
                </a:solidFill>
                <a:latin typeface="Helvetica Neue"/>
                <a:ea typeface="Helvetica Neue"/>
                <a:cs typeface="Helvetica Neue"/>
              </a:rPr>
              <a:t>A small preview of an idea</a:t>
            </a:r>
          </a:p>
        </p:txBody>
      </p:sp>
      <p:sp>
        <p:nvSpPr>
          <p:cNvPr id="14" name="Describe a dashboard or automation.">
            <a:extLst xmlns:a="http://schemas.openxmlformats.org/drawingml/2006/main">
              <a:ext uri="{FF2B5EF4-FFF2-40B4-BE49-F238E27FC236}">
                <a16:creationId xmlns:a16="http://schemas.microsoft.com/office/drawing/2014/main" id="{631B8CB8-0E15-4168-8201-6354C6E9F058}"/>
              </a:ext>
            </a:extLst>
          </p:cNvPr>
          <p:cNvSpPr>
            <a:spLocks xmlns:a="http://schemas.openxmlformats.org/drawingml/2006/main" noGrp="1"/>
          </p:cNvSpPr>
          <p:nvPr/>
        </p:nvSpPr>
        <p:spPr>
          <a:xfrm xmlns:a="http://schemas.openxmlformats.org/drawingml/2006/main">
            <a:off x="5810250" y="4953000"/>
            <a:ext cx="5010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i="0">
                <a:solidFill>
                  <a:srgbClr val="62665E"/>
                </a:solidFill>
                <a:latin typeface="Helvetica Neue"/>
                <a:ea typeface="Helvetica Neue"/>
                <a:cs typeface="Helvetica Neue"/>
              </a:defRPr>
            </a:defPPr>
          </a:lstStyle>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Describe a dashboard or automation.</a:t>
            </a:r>
          </a:p>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See a basic preview, then contact Mark.</a:t>
            </a:r>
          </a:p>
        </p:txBody>
      </p:sp>
      <p:sp>
        <p:nvSpPr>
          <p:cNvPr id="15" name="05">
            <a:extLst xmlns:a="http://schemas.openxmlformats.org/drawingml/2006/main">
              <a:ext uri="{FF2B5EF4-FFF2-40B4-BE49-F238E27FC236}">
                <a16:creationId xmlns:a16="http://schemas.microsoft.com/office/drawing/2014/main" id="{0FF104EC-7555-4F84-A9DC-56123B3EF5D4}"/>
              </a:ext>
            </a:extLst>
          </p:cNvPr>
          <p:cNvSpPr>
            <a:spLocks xmlns:a="http://schemas.openxmlformats.org/drawingml/2006/main" noGrp="1"/>
          </p:cNvSpPr>
          <p:nvPr/>
        </p:nvSpPr>
        <p:spPr>
          <a:xfrm xmlns:a="http://schemas.openxmlformats.org/drawingml/2006/main">
            <a:off x="628650" y="58388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150" b="0" i="0">
                <a:solidFill>
                  <a:srgbClr val="2453FF"/>
                </a:solidFill>
                <a:latin typeface="Helvetica Neue"/>
                <a:ea typeface="Helvetica Neue"/>
                <a:cs typeface="Helvetica Neue"/>
              </a:defRPr>
            </a:defPPr>
          </a:lstStyle>
          <a:p xmlns:a="http://schemas.openxmlformats.org/drawingml/2006/main">
            <a:pPr>
              <a:defRPr sz="3150" b="0" i="0">
                <a:solidFill>
                  <a:srgbClr val="2453FF"/>
                </a:solidFill>
                <a:latin typeface="Helvetica Neue"/>
                <a:ea typeface="Helvetica Neue"/>
                <a:cs typeface="Helvetica Neue"/>
              </a:defRPr>
            </a:pPr>
            <a:r>
              <a:rPr sz="3150" b="0" i="0">
                <a:solidFill>
                  <a:srgbClr val="2453FF"/>
                </a:solidFill>
                <a:latin typeface="Helvetica Neue"/>
                <a:ea typeface="Helvetica Neue"/>
                <a:cs typeface="Helvetica Neue"/>
              </a:rPr>
              <a:t>05</a:t>
            </a:r>
          </a:p>
        </p:txBody>
      </p:sp>
      <p:sp>
        <p:nvSpPr>
          <p:cNvPr id="16" name="A direct line to the human">
            <a:extLst xmlns:a="http://schemas.openxmlformats.org/drawingml/2006/main">
              <a:ext uri="{FF2B5EF4-FFF2-40B4-BE49-F238E27FC236}">
                <a16:creationId xmlns:a16="http://schemas.microsoft.com/office/drawing/2014/main" id="{FAEE3166-056E-48B8-961E-06C1E9D67F17}"/>
              </a:ext>
            </a:extLst>
          </p:cNvPr>
          <p:cNvSpPr>
            <a:spLocks xmlns:a="http://schemas.openxmlformats.org/drawingml/2006/main" noGrp="1"/>
          </p:cNvSpPr>
          <p:nvPr/>
        </p:nvSpPr>
        <p:spPr>
          <a:xfrm xmlns:a="http://schemas.openxmlformats.org/drawingml/2006/main">
            <a:off x="1562100" y="5886450"/>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i="0">
                <a:solidFill>
                  <a:srgbClr val="20211E"/>
                </a:solidFill>
                <a:latin typeface="Helvetica Neue"/>
                <a:ea typeface="Helvetica Neue"/>
                <a:cs typeface="Helvetica Neue"/>
              </a:defRPr>
            </a:defPPr>
          </a:lstStyle>
          <a:p xmlns:a="http://schemas.openxmlformats.org/drawingml/2006/main">
            <a:pPr>
              <a:defRPr sz="2175" b="1" i="0">
                <a:solidFill>
                  <a:srgbClr val="20211E"/>
                </a:solidFill>
                <a:latin typeface="Helvetica Neue"/>
                <a:ea typeface="Helvetica Neue"/>
                <a:cs typeface="Helvetica Neue"/>
              </a:defRPr>
            </a:pPr>
            <a:r>
              <a:rPr sz="2175" b="1" i="0">
                <a:solidFill>
                  <a:srgbClr val="20211E"/>
                </a:solidFill>
                <a:latin typeface="Helvetica Neue"/>
                <a:ea typeface="Helvetica Neue"/>
                <a:cs typeface="Helvetica Neue"/>
              </a:rPr>
              <a:t>A direct line to the human</a:t>
            </a:r>
          </a:p>
        </p:txBody>
      </p:sp>
      <p:sp>
        <p:nvSpPr>
          <p:cNvPr id="17" name="Unknown answers go to Mark on Teleg">
            <a:extLst xmlns:a="http://schemas.openxmlformats.org/drawingml/2006/main">
              <a:ext uri="{FF2B5EF4-FFF2-40B4-BE49-F238E27FC236}">
                <a16:creationId xmlns:a16="http://schemas.microsoft.com/office/drawing/2014/main" id="{C4A91E2E-CC33-4B10-9313-DEAFB586A323}"/>
              </a:ext>
            </a:extLst>
          </p:cNvPr>
          <p:cNvSpPr>
            <a:spLocks xmlns:a="http://schemas.openxmlformats.org/drawingml/2006/main" noGrp="1"/>
          </p:cNvSpPr>
          <p:nvPr/>
        </p:nvSpPr>
        <p:spPr>
          <a:xfrm xmlns:a="http://schemas.openxmlformats.org/drawingml/2006/main">
            <a:off x="5810250" y="5857875"/>
            <a:ext cx="50101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i="0">
                <a:solidFill>
                  <a:srgbClr val="62665E"/>
                </a:solidFill>
                <a:latin typeface="Helvetica Neue"/>
                <a:ea typeface="Helvetica Neue"/>
                <a:cs typeface="Helvetica Neue"/>
              </a:defRPr>
            </a:defPPr>
          </a:lstStyle>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Unknown answers go to Mark on Telegram.</a:t>
            </a:r>
          </a:p>
          <a:p xmlns:a="http://schemas.openxmlformats.org/drawingml/2006/main">
            <a:pPr>
              <a:defRPr sz="1725" b="0" i="0">
                <a:solidFill>
                  <a:srgbClr val="62665E"/>
                </a:solidFill>
                <a:latin typeface="Helvetica Neue"/>
                <a:ea typeface="Helvetica Neue"/>
                <a:cs typeface="Helvetica Neue"/>
              </a:defRPr>
            </a:pPr>
            <a:r>
              <a:rPr sz="1725" b="0" i="0">
                <a:solidFill>
                  <a:srgbClr val="62665E"/>
                </a:solidFill>
                <a:latin typeface="Helvetica Neue"/>
                <a:ea typeface="Helvetica Neue"/>
                <a:cs typeface="Helvetica Neue"/>
              </a:rPr>
              <a:t>His reply answers the visitor and updates the KB.</a:t>
            </a:r>
          </a:p>
        </p:txBody>
      </p:sp>
      <p:sp>
        <p:nvSpPr>
          <p:cNvPr id="18" name="Mark Renzo / Brand directions">
            <a:extLst xmlns:a="http://schemas.openxmlformats.org/drawingml/2006/main">
              <a:ext uri="{FF2B5EF4-FFF2-40B4-BE49-F238E27FC236}">
                <a16:creationId xmlns:a16="http://schemas.microsoft.com/office/drawing/2014/main" id="{90929FED-F786-4DF6-9CE6-6FA9E8A06D62}"/>
              </a:ext>
            </a:extLst>
          </p:cNvPr>
          <p:cNvSpPr>
            <a:spLocks xmlns:a="http://schemas.openxmlformats.org/drawingml/2006/main" noGrp="1"/>
          </p:cNvSpPr>
          <p:nvPr/>
        </p:nvSpPr>
        <p:spPr>
          <a:xfrm xmlns:a="http://schemas.openxmlformats.org/drawingml/2006/main">
            <a:off x="609600" y="7181850"/>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i="0">
                <a:solidFill>
                  <a:srgbClr val="62665E"/>
                </a:solidFill>
                <a:latin typeface="Helvetica Neue"/>
                <a:ea typeface="Helvetica Neue"/>
                <a:cs typeface="Helvetica Neue"/>
              </a:defRPr>
            </a:defPPr>
          </a:lstStyle>
          <a:p xmlns:a="http://schemas.openxmlformats.org/drawingml/2006/main">
            <a:pPr>
              <a:defRPr sz="1275" b="0" i="0">
                <a:solidFill>
                  <a:srgbClr val="62665E"/>
                </a:solidFill>
                <a:latin typeface="Helvetica Neue"/>
                <a:ea typeface="Helvetica Neue"/>
                <a:cs typeface="Helvetica Neue"/>
              </a:defRPr>
            </a:pPr>
            <a:r>
              <a:rPr sz="1275" b="0" i="0">
                <a:solidFill>
                  <a:srgbClr val="62665E"/>
                </a:solidFill>
                <a:latin typeface="Helvetica Neue"/>
                <a:ea typeface="Helvetica Neue"/>
                <a:cs typeface="Helvetica Neue"/>
              </a:rPr>
              <a:t>Mark Renzo / Brand directions</a:t>
            </a:r>
          </a:p>
        </p:txBody>
      </p:sp>
      <p:sp>
        <p:nvSpPr>
          <p:cNvPr id="19" name="09">
            <a:extLst xmlns:a="http://schemas.openxmlformats.org/drawingml/2006/main">
              <a:ext uri="{FF2B5EF4-FFF2-40B4-BE49-F238E27FC236}">
                <a16:creationId xmlns:a16="http://schemas.microsoft.com/office/drawing/2014/main" id="{2B8A4BA6-741D-4788-8DA7-D407283B50FA}"/>
              </a:ext>
            </a:extLst>
          </p:cNvPr>
          <p:cNvSpPr>
            <a:spLocks xmlns:a="http://schemas.openxmlformats.org/drawingml/2006/main" noGrp="1"/>
          </p:cNvSpPr>
          <p:nvPr/>
        </p:nvSpPr>
        <p:spPr>
          <a:xfrm xmlns:a="http://schemas.openxmlformats.org/drawingml/2006/main">
            <a:off x="10382250" y="7181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i="0">
                <a:solidFill>
                  <a:srgbClr val="62665E"/>
                </a:solidFill>
                <a:latin typeface="Helvetica Neue"/>
                <a:ea typeface="Helvetica Neue"/>
                <a:cs typeface="Helvetica Neue"/>
              </a:defRPr>
            </a:defPPr>
          </a:lstStyle>
          <a:p xmlns:a="http://schemas.openxmlformats.org/drawingml/2006/main">
            <a:pPr algn="r">
              <a:defRPr sz="1275" b="0" i="0">
                <a:solidFill>
                  <a:srgbClr val="62665E"/>
                </a:solidFill>
                <a:latin typeface="Helvetica Neue"/>
                <a:ea typeface="Helvetica Neue"/>
                <a:cs typeface="Helvetica Neue"/>
              </a:defRPr>
            </a:pPr>
            <a:r>
              <a:rPr sz="1275" b="0" i="0">
                <a:solidFill>
                  <a:srgbClr val="62665E"/>
                </a:solidFill>
                <a:latin typeface="Helvetica Neue"/>
                <a:ea typeface="Helvetica Neue"/>
                <a:cs typeface="Helvetica Neue"/>
              </a:rPr>
              <a:t>09</a:t>
            </a:r>
          </a:p>
        </p:txBody>
      </p:sp>
    </p:spTree>
    <p:extLst>
      <p:ext uri="{BB962C8B-B14F-4D97-AF65-F5344CB8AC3E}">
        <p14:creationId xmlns:p14="http://schemas.microsoft.com/office/powerpoint/2010/main" val="397453864"/>
      </p:ext>
    </p:extLst>
  </p:cSld>
</p:sld>
</file>

<file path=ppt/slides/slide1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Five distinct personalities">
            <a:extLst xmlns:a="http://schemas.openxmlformats.org/drawingml/2006/main">
              <a:ext uri="{FF2B5EF4-FFF2-40B4-BE49-F238E27FC236}">
                <a16:creationId xmlns:a16="http://schemas.microsoft.com/office/drawing/2014/main" id="{56B95BA4-3146-4CDD-B324-DDC1C65250B9}"/>
              </a:ext>
            </a:extLst>
          </p:cNvPr>
          <p:cNvSpPr>
            <a:spLocks xmlns:a="http://schemas.openxmlformats.org/drawingml/2006/main" noGrp="1"/>
          </p:cNvSpPr>
          <p:nvPr/>
        </p:nvSpPr>
        <p:spPr>
          <a:xfrm xmlns:a="http://schemas.openxmlformats.org/drawingml/2006/main">
            <a:off x="609600" y="590550"/>
            <a:ext cx="1021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350" b="1" i="0">
                <a:solidFill>
                  <a:srgbClr val="20211E"/>
                </a:solidFill>
                <a:latin typeface="Helvetica Neue"/>
                <a:ea typeface="Helvetica Neue"/>
                <a:cs typeface="Helvetica Neue"/>
              </a:defRPr>
            </a:defPPr>
          </a:lstStyle>
          <a:p xmlns:a="http://schemas.openxmlformats.org/drawingml/2006/main">
            <a:pPr>
              <a:defRPr sz="4350" b="1" i="0">
                <a:solidFill>
                  <a:srgbClr val="20211E"/>
                </a:solidFill>
                <a:latin typeface="Helvetica Neue"/>
                <a:ea typeface="Helvetica Neue"/>
                <a:cs typeface="Helvetica Neue"/>
              </a:defRPr>
            </a:pPr>
            <a:r>
              <a:rPr sz="4350" b="1" i="0">
                <a:solidFill>
                  <a:srgbClr val="20211E"/>
                </a:solidFill>
                <a:latin typeface="Helvetica Neue"/>
                <a:ea typeface="Helvetica Neue"/>
                <a:cs typeface="Helvetica Neue"/>
              </a:rPr>
              <a:t>Five distinct personalities</a:t>
            </a:r>
          </a:p>
        </p:txBody>
      </p:sp>
      <p:graphicFrame>
        <p:nvGraphicFramePr>
          <p:cNvPr id="2" name="">
            <a:extLst xmlns:a="http://schemas.openxmlformats.org/drawingml/2006/main">
              <a:ext uri="{FF2B5EF4-FFF2-40B4-BE49-F238E27FC236}">
                <a16:creationId xmlns:a16="http://schemas.microsoft.com/office/drawing/2014/main" id="{050139CF-F4DD-43FC-B451-37BB8229411A}"/>
              </a:ext>
            </a:extLst>
          </p:cNvPr>
          <p:cNvGraphicFramePr/>
          <p:nvPr/>
        </p:nvGraphicFramePr>
        <p:xfrm>
          <a:off xmlns:a="http://schemas.openxmlformats.org/drawingml/2006/main" x="609600" y="2066925"/>
          <a:ext xmlns:a="http://schemas.openxmlformats.org/drawingml/2006/main" cx="10210800" cy="4381500"/>
        </p:xfrm>
        <a:graphic xmlns:a="http://schemas.openxmlformats.org/drawingml/2006/main">
          <a:graphicData uri="http://schemas.openxmlformats.org/drawingml/2006/table">
            <a:tbl>
              <a:tblPr firstRow="0" bandRow="0"/>
              <a:tblGrid>
                <a:gridCol w="2286000"/>
                <a:gridCol w="3962400"/>
                <a:gridCol w="3962400"/>
              </a:tblGrid>
              <a:tr h="523875">
                <a:tc>
                  <a:txBody>
                    <a:bodyPr/>
                    <a:lstStyle/>
                    <a:p>
                      <a:r>
                        <a:rPr sz="1575" b="1">
                          <a:solidFill>
                            <a:srgbClr val="2453FF"/>
                          </a:solidFill>
                          <a:latin typeface="Helvetica Neue"/>
                          <a:ea typeface="Helvetica Neue"/>
                          <a:cs typeface="Helvetica Neue"/>
                        </a:rPr>
                        <a:t>DIRECTION</a:t>
                      </a:r>
                    </a:p>
                  </a:txBody>
                  <a:tcPr marL="114300" marR="114300" marT="95250" marB="95250" anchor="ctr">
                    <a:solidFill>
                      <a:srgbClr val="F6F5EF"/>
                    </a:solidFill>
                  </a:tcPr>
                </a:tc>
                <a:tc>
                  <a:txBody>
                    <a:bodyPr/>
                    <a:lstStyle/>
                    <a:p>
                      <a:r>
                        <a:rPr sz="1575" b="1">
                          <a:solidFill>
                            <a:srgbClr val="2453FF"/>
                          </a:solidFill>
                          <a:latin typeface="Helvetica Neue"/>
                          <a:ea typeface="Helvetica Neue"/>
                          <a:cs typeface="Helvetica Neue"/>
                        </a:rPr>
                        <a:t>STRONGEST FIT</a:t>
                      </a:r>
                    </a:p>
                  </a:txBody>
                  <a:tcPr marL="114300" marR="114300" marT="95250" marB="95250" anchor="ctr">
                    <a:solidFill>
                      <a:srgbClr val="F6F5EF"/>
                    </a:solidFill>
                  </a:tcPr>
                </a:tc>
                <a:tc>
                  <a:txBody>
                    <a:bodyPr/>
                    <a:lstStyle/>
                    <a:p>
                      <a:r>
                        <a:rPr sz="1575" b="1">
                          <a:solidFill>
                            <a:srgbClr val="2453FF"/>
                          </a:solidFill>
                          <a:latin typeface="Helvetica Neue"/>
                          <a:ea typeface="Helvetica Neue"/>
                          <a:cs typeface="Helvetica Neue"/>
                        </a:rPr>
                        <a:t>TRADEOFF</a:t>
                      </a:r>
                    </a:p>
                  </a:txBody>
                  <a:tcPr marL="114300" marR="114300" marT="95250" marB="95250" anchor="ctr">
                    <a:solidFill>
                      <a:srgbClr val="F6F5EF"/>
                    </a:solidFill>
                  </a:tcPr>
                </a:tc>
              </a:tr>
              <a:tr h="771525">
                <a:tc>
                  <a:txBody>
                    <a:bodyPr/>
                    <a:lstStyle/>
                    <a:p>
                      <a:r>
                        <a:rPr sz="1800" b="1">
                          <a:solidFill>
                            <a:srgbClr val="20211E"/>
                          </a:solidFill>
                          <a:latin typeface="Helvetica Neue"/>
                          <a:ea typeface="Helvetica Neue"/>
                          <a:cs typeface="Helvetica Neue"/>
                        </a:rPr>
                        <a:t>01 Curious Human</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Clear project stories with a</a:t>
                      </a:r>
                    </a:p>
                    <a:p>
                      <a:r>
                        <a:rPr sz="1725">
                          <a:solidFill>
                            <a:srgbClr val="20211E"/>
                          </a:solidFill>
                          <a:latin typeface="Helvetica Neue"/>
                          <a:ea typeface="Helvetica Neue"/>
                          <a:cs typeface="Helvetica Neue"/>
                        </a:rPr>
                        <a:t>personal, playful edge.</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Needs distinctive photo stickers</a:t>
                      </a:r>
                    </a:p>
                    <a:p>
                      <a:r>
                        <a:rPr sz="1725">
                          <a:solidFill>
                            <a:srgbClr val="20211E"/>
                          </a:solidFill>
                          <a:latin typeface="Helvetica Neue"/>
                          <a:ea typeface="Helvetica Neue"/>
                          <a:cs typeface="Helvetica Neue"/>
                        </a:rPr>
                        <a:t>and a recognizable voice.</a:t>
                      </a:r>
                    </a:p>
                  </a:txBody>
                  <a:tcPr marL="114300" marR="114300" marT="95250" marB="95250" anchor="ctr">
                    <a:solidFill>
                      <a:srgbClr val="F6F5EF"/>
                    </a:solidFill>
                  </a:tcPr>
                </a:tc>
              </a:tr>
              <a:tr h="771525">
                <a:tc>
                  <a:txBody>
                    <a:bodyPr/>
                    <a:lstStyle/>
                    <a:p>
                      <a:r>
                        <a:rPr sz="1800" b="1">
                          <a:solidFill>
                            <a:srgbClr val="20211E"/>
                          </a:solidFill>
                          <a:latin typeface="Helvetica Neue"/>
                          <a:ea typeface="Helvetica Neue"/>
                          <a:cs typeface="Helvetica Neue"/>
                        </a:rPr>
                        <a:t>02 Renzo Radio</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Warm and conversational.</a:t>
                      </a:r>
                    </a:p>
                    <a:p>
                      <a:r>
                        <a:rPr sz="1725">
                          <a:solidFill>
                            <a:srgbClr val="20211E"/>
                          </a:solidFill>
                          <a:latin typeface="Helvetica Neue"/>
                          <a:ea typeface="Helvetica Neue"/>
                          <a:cs typeface="Helvetica Neue"/>
                        </a:rPr>
                        <a:t>The AI feels like a friendly host.</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Technical project stories need</a:t>
                      </a:r>
                    </a:p>
                    <a:p>
                      <a:r>
                        <a:rPr sz="1725">
                          <a:solidFill>
                            <a:srgbClr val="20211E"/>
                          </a:solidFill>
                          <a:latin typeface="Helvetica Neue"/>
                          <a:ea typeface="Helvetica Neue"/>
                          <a:cs typeface="Helvetica Neue"/>
                        </a:rPr>
                        <a:t>structure beside the retro style.</a:t>
                      </a:r>
                    </a:p>
                  </a:txBody>
                  <a:tcPr marL="114300" marR="114300" marT="95250" marB="95250" anchor="ctr">
                    <a:solidFill>
                      <a:srgbClr val="F6F5EF"/>
                    </a:solidFill>
                  </a:tcPr>
                </a:tc>
              </a:tr>
              <a:tr h="771525">
                <a:tc>
                  <a:txBody>
                    <a:bodyPr/>
                    <a:lstStyle/>
                    <a:p>
                      <a:r>
                        <a:rPr sz="1800" b="1">
                          <a:solidFill>
                            <a:srgbClr val="20211E"/>
                          </a:solidFill>
                          <a:latin typeface="Helvetica Neue"/>
                          <a:ea typeface="Helvetica Neue"/>
                          <a:cs typeface="Helvetica Neue"/>
                        </a:rPr>
                        <a:t>03 Build Club</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Hands-on maker energy.</a:t>
                      </a:r>
                    </a:p>
                    <a:p>
                      <a:r>
                        <a:rPr sz="1725">
                          <a:solidFill>
                            <a:srgbClr val="20211E"/>
                          </a:solidFill>
                          <a:latin typeface="Helvetica Neue"/>
                          <a:ea typeface="Helvetica Neue"/>
                          <a:cs typeface="Helvetica Neue"/>
                        </a:rPr>
                        <a:t>A strong invitation to build together.</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Personal photos keep it feeling</a:t>
                      </a:r>
                    </a:p>
                    <a:p>
                      <a:r>
                        <a:rPr sz="1725">
                          <a:solidFill>
                            <a:srgbClr val="20211E"/>
                          </a:solidFill>
                          <a:latin typeface="Helvetica Neue"/>
                          <a:ea typeface="Helvetica Neue"/>
                          <a:cs typeface="Helvetica Neue"/>
                        </a:rPr>
                        <a:t>like Mark rather than an agency.</a:t>
                      </a:r>
                    </a:p>
                  </a:txBody>
                  <a:tcPr marL="114300" marR="114300" marT="95250" marB="95250" anchor="ctr">
                    <a:solidFill>
                      <a:srgbClr val="F6F5EF"/>
                    </a:solidFill>
                  </a:tcPr>
                </a:tc>
              </a:tr>
              <a:tr h="771525">
                <a:tc>
                  <a:txBody>
                    <a:bodyPr/>
                    <a:lstStyle/>
                    <a:p>
                      <a:r>
                        <a:rPr sz="1800" b="1">
                          <a:solidFill>
                            <a:srgbClr val="20211E"/>
                          </a:solidFill>
                          <a:latin typeface="Helvetica Neue"/>
                          <a:ea typeface="Helvetica Neue"/>
                          <a:cs typeface="Helvetica Neue"/>
                        </a:rPr>
                        <a:t>04 Open Tabs</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A natural home for work, life</a:t>
                      </a:r>
                    </a:p>
                    <a:p>
                      <a:r>
                        <a:rPr sz="1725">
                          <a:solidFill>
                            <a:srgbClr val="20211E"/>
                          </a:solidFill>
                          <a:latin typeface="Helvetica Neue"/>
                          <a:ea typeface="Helvetica Neue"/>
                          <a:cs typeface="Helvetica Neue"/>
                        </a:rPr>
                        <a:t>and a personal knowledge base.</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Too many tabs can compete</a:t>
                      </a:r>
                    </a:p>
                    <a:p>
                      <a:r>
                        <a:rPr sz="1725">
                          <a:solidFill>
                            <a:srgbClr val="20211E"/>
                          </a:solidFill>
                          <a:latin typeface="Helvetica Neue"/>
                          <a:ea typeface="Helvetica Neue"/>
                          <a:cs typeface="Helvetica Neue"/>
                        </a:rPr>
                        <a:t>with the work itself.</a:t>
                      </a:r>
                    </a:p>
                  </a:txBody>
                  <a:tcPr marL="114300" marR="114300" marT="95250" marB="95250" anchor="ctr">
                    <a:solidFill>
                      <a:srgbClr val="F6F5EF"/>
                    </a:solidFill>
                  </a:tcPr>
                </a:tc>
              </a:tr>
              <a:tr h="771525">
                <a:tc>
                  <a:txBody>
                    <a:bodyPr/>
                    <a:lstStyle/>
                    <a:p>
                      <a:r>
                        <a:rPr sz="1800" b="1">
                          <a:solidFill>
                            <a:srgbClr val="20211E"/>
                          </a:solidFill>
                          <a:latin typeface="Helvetica Neue"/>
                          <a:ea typeface="Helvetica Neue"/>
                          <a:cs typeface="Helvetica Neue"/>
                        </a:rPr>
                        <a:t>05 Mark in Motion</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An expressive personal signature.</a:t>
                      </a:r>
                    </a:p>
                    <a:p>
                      <a:r>
                        <a:rPr sz="1725">
                          <a:solidFill>
                            <a:srgbClr val="20211E"/>
                          </a:solidFill>
                          <a:latin typeface="Helvetica Neue"/>
                          <a:ea typeface="Helvetica Neue"/>
                          <a:cs typeface="Helvetica Neue"/>
                        </a:rPr>
                        <a:t>The most freedom for motion.</a:t>
                      </a:r>
                    </a:p>
                  </a:txBody>
                  <a:tcPr marL="114300" marR="114300" marT="95250" marB="95250" anchor="ctr">
                    <a:solidFill>
                      <a:srgbClr val="F6F5EF"/>
                    </a:solidFill>
                  </a:tcPr>
                </a:tc>
                <a:tc>
                  <a:txBody>
                    <a:bodyPr/>
                    <a:lstStyle/>
                    <a:p>
                      <a:r>
                        <a:rPr sz="1725">
                          <a:solidFill>
                            <a:srgbClr val="20211E"/>
                          </a:solidFill>
                          <a:latin typeface="Helvetica Neue"/>
                          <a:ea typeface="Helvetica Neue"/>
                          <a:cs typeface="Helvetica Neue"/>
                        </a:rPr>
                        <a:t>Needs quiet reading moments</a:t>
                      </a:r>
                    </a:p>
                    <a:p>
                      <a:r>
                        <a:rPr sz="1725">
                          <a:solidFill>
                            <a:srgbClr val="20211E"/>
                          </a:solidFill>
                          <a:latin typeface="Helvetica Neue"/>
                          <a:ea typeface="Helvetica Neue"/>
                          <a:cs typeface="Helvetica Neue"/>
                        </a:rPr>
                        <a:t>and a reduced-motion mode.</a:t>
                      </a:r>
                    </a:p>
                  </a:txBody>
                  <a:tcPr marL="114300" marR="114300" marT="95250" marB="95250" anchor="ctr">
                    <a:solidFill>
                      <a:srgbClr val="F6F5EF"/>
                    </a:solidFill>
                  </a:tcPr>
                </a:tc>
              </a:tr>
            </a:tbl>
          </a:graphicData>
        </a:graphic>
      </p:graphicFrame>
      <p:sp>
        <p:nvSpPr>
          <p:cNvPr id="3" name="Mark Renzo / Brand directions">
            <a:extLst xmlns:a="http://schemas.openxmlformats.org/drawingml/2006/main">
              <a:ext uri="{FF2B5EF4-FFF2-40B4-BE49-F238E27FC236}">
                <a16:creationId xmlns:a16="http://schemas.microsoft.com/office/drawing/2014/main" id="{4192039B-3AAB-466D-98C8-2033AD1C31A4}"/>
              </a:ext>
            </a:extLst>
          </p:cNvPr>
          <p:cNvSpPr>
            <a:spLocks xmlns:a="http://schemas.openxmlformats.org/drawingml/2006/main" noGrp="1"/>
          </p:cNvSpPr>
          <p:nvPr/>
        </p:nvSpPr>
        <p:spPr>
          <a:xfrm xmlns:a="http://schemas.openxmlformats.org/drawingml/2006/main">
            <a:off x="609600" y="7181850"/>
            <a:ext cx="876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i="0">
                <a:solidFill>
                  <a:srgbClr val="62665E"/>
                </a:solidFill>
                <a:latin typeface="Helvetica Neue"/>
                <a:ea typeface="Helvetica Neue"/>
                <a:cs typeface="Helvetica Neue"/>
              </a:defRPr>
            </a:defPPr>
          </a:lstStyle>
          <a:p xmlns:a="http://schemas.openxmlformats.org/drawingml/2006/main">
            <a:pPr>
              <a:defRPr sz="1275" b="0" i="0">
                <a:solidFill>
                  <a:srgbClr val="62665E"/>
                </a:solidFill>
                <a:latin typeface="Helvetica Neue"/>
                <a:ea typeface="Helvetica Neue"/>
                <a:cs typeface="Helvetica Neue"/>
              </a:defRPr>
            </a:pPr>
            <a:r>
              <a:rPr sz="1275" b="0" i="0">
                <a:solidFill>
                  <a:srgbClr val="62665E"/>
                </a:solidFill>
                <a:latin typeface="Helvetica Neue"/>
                <a:ea typeface="Helvetica Neue"/>
                <a:cs typeface="Helvetica Neue"/>
              </a:rPr>
              <a:t>Mark Renzo / Brand directions</a:t>
            </a:r>
          </a:p>
        </p:txBody>
      </p:sp>
      <p:sp>
        <p:nvSpPr>
          <p:cNvPr id="4" name="10">
            <a:extLst xmlns:a="http://schemas.openxmlformats.org/drawingml/2006/main">
              <a:ext uri="{FF2B5EF4-FFF2-40B4-BE49-F238E27FC236}">
                <a16:creationId xmlns:a16="http://schemas.microsoft.com/office/drawing/2014/main" id="{5BAC46F3-8879-4C3E-A35A-2CA56EF28E2F}"/>
              </a:ext>
            </a:extLst>
          </p:cNvPr>
          <p:cNvSpPr>
            <a:spLocks xmlns:a="http://schemas.openxmlformats.org/drawingml/2006/main" noGrp="1"/>
          </p:cNvSpPr>
          <p:nvPr/>
        </p:nvSpPr>
        <p:spPr>
          <a:xfrm xmlns:a="http://schemas.openxmlformats.org/drawingml/2006/main">
            <a:off x="10382250" y="71818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i="0">
                <a:solidFill>
                  <a:srgbClr val="62665E"/>
                </a:solidFill>
                <a:latin typeface="Helvetica Neue"/>
                <a:ea typeface="Helvetica Neue"/>
                <a:cs typeface="Helvetica Neue"/>
              </a:defRPr>
            </a:defPPr>
          </a:lstStyle>
          <a:p xmlns:a="http://schemas.openxmlformats.org/drawingml/2006/main">
            <a:pPr algn="r">
              <a:defRPr sz="1275" b="0" i="0">
                <a:solidFill>
                  <a:srgbClr val="62665E"/>
                </a:solidFill>
                <a:latin typeface="Helvetica Neue"/>
                <a:ea typeface="Helvetica Neue"/>
                <a:cs typeface="Helvetica Neue"/>
              </a:defRPr>
            </a:pPr>
            <a:r>
              <a:rPr sz="1275" b="0" i="0">
                <a:solidFill>
                  <a:srgbClr val="62665E"/>
                </a:solidFill>
                <a:latin typeface="Helvetica Neue"/>
                <a:ea typeface="Helvetica Neue"/>
                <a:cs typeface="Helvetica Neue"/>
              </a:rPr>
              <a:t>10</a:t>
            </a:r>
          </a:p>
        </p:txBody>
      </p:sp>
    </p:spTree>
    <p:extLst>
      <p:ext uri="{BB962C8B-B14F-4D97-AF65-F5344CB8AC3E}">
        <p14:creationId xmlns:p14="http://schemas.microsoft.com/office/powerpoint/2010/main" val="417190044"/>
      </p:ext>
    </p:extLst>
  </p:cSld>
</p:sld>
</file>

<file path=ppt/slides/slide11.xml><?xml version="1.0" encoding="utf-8"?>
<p:sld xmlns:p="http://schemas.openxmlformats.org/presentationml/2006/main">
  <p:cSld>
    <p:bg>
      <p:bgPr>
        <a:solidFill xmlns:a="http://schemas.openxmlformats.org/drawingml/2006/main">
          <a:srgbClr val="2453FF"/>
        </a:solidFill>
      </p:bgPr>
    </p:bg>
    <p:spTree>
      <p:nvGrpSpPr>
        <p:cNvPr id="1" name=""/>
        <p:cNvGrpSpPr/>
        <p:nvPr/>
      </p:nvGrpSpPr>
      <p:grpSpPr>
        <a:xfrm xmlns:a="http://schemas.openxmlformats.org/drawingml/2006/main"/>
      </p:grpSpPr>
      <p:sp>
        <p:nvSpPr>
          <p:cNvPr id="7" name="My recommendation">
            <a:extLst xmlns:a="http://schemas.openxmlformats.org/drawingml/2006/main">
              <a:ext uri="{FF2B5EF4-FFF2-40B4-BE49-F238E27FC236}">
                <a16:creationId xmlns:a16="http://schemas.microsoft.com/office/drawing/2014/main" id="{DBDD03A2-58DF-4704-ACFE-2E04CE9A1E69}"/>
              </a:ext>
            </a:extLst>
          </p:cNvPr>
          <p:cNvSpPr>
            <a:spLocks xmlns:a="http://schemas.openxmlformats.org/drawingml/2006/main" noGrp="1"/>
          </p:cNvSpPr>
          <p:nvPr/>
        </p:nvSpPr>
        <p:spPr>
          <a:xfrm xmlns:a="http://schemas.openxmlformats.org/drawingml/2006/main">
            <a:off x="609600" y="638175"/>
            <a:ext cx="1019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i="0">
                <a:solidFill>
                  <a:srgbClr val="FFFFFF"/>
                </a:solidFill>
                <a:latin typeface="Helvetica Neue"/>
                <a:ea typeface="Helvetica Neue"/>
                <a:cs typeface="Helvetica Neue"/>
              </a:defRPr>
            </a:defPPr>
          </a:lstStyle>
          <a:p xmlns:a="http://schemas.openxmlformats.org/drawingml/2006/main">
            <a:pPr>
              <a:defRPr sz="2325" b="0" i="0">
                <a:solidFill>
                  <a:srgbClr val="FFFFFF"/>
                </a:solidFill>
                <a:latin typeface="Helvetica Neue"/>
                <a:ea typeface="Helvetica Neue"/>
                <a:cs typeface="Helvetica Neue"/>
              </a:defRPr>
            </a:pPr>
            <a:r>
              <a:rPr sz="2325" b="0" i="0">
                <a:solidFill>
                  <a:srgbClr val="FFFFFF"/>
                </a:solidFill>
                <a:latin typeface="Helvetica Neue"/>
                <a:ea typeface="Helvetica Neue"/>
                <a:cs typeface="Helvetica Neue"/>
              </a:rPr>
              <a:t>My recommendation</a:t>
            </a:r>
          </a:p>
        </p:txBody>
      </p:sp>
      <p:sp>
        <p:nvSpPr>
          <p:cNvPr id="2" name="01 Curious Human">
            <a:extLst xmlns:a="http://schemas.openxmlformats.org/drawingml/2006/main">
              <a:ext uri="{FF2B5EF4-FFF2-40B4-BE49-F238E27FC236}">
                <a16:creationId xmlns:a16="http://schemas.microsoft.com/office/drawing/2014/main" id="{CD1BCBC4-E1BF-45C0-8D70-5B717E39672A}"/>
              </a:ext>
            </a:extLst>
          </p:cNvPr>
          <p:cNvSpPr>
            <a:spLocks xmlns:a="http://schemas.openxmlformats.org/drawingml/2006/main" noGrp="1"/>
          </p:cNvSpPr>
          <p:nvPr/>
        </p:nvSpPr>
        <p:spPr>
          <a:xfrm xmlns:a="http://schemas.openxmlformats.org/drawingml/2006/main">
            <a:off x="609600" y="1647825"/>
            <a:ext cx="10210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925" b="1" i="0">
                <a:solidFill>
                  <a:srgbClr val="FFFFFF"/>
                </a:solidFill>
                <a:latin typeface="Helvetica Neue"/>
                <a:ea typeface="Helvetica Neue"/>
                <a:cs typeface="Helvetica Neue"/>
              </a:defRPr>
            </a:defPPr>
          </a:lstStyle>
          <a:p xmlns:a="http://schemas.openxmlformats.org/drawingml/2006/main">
            <a:pPr>
              <a:defRPr sz="5925" b="1" i="0">
                <a:solidFill>
                  <a:srgbClr val="FFFFFF"/>
                </a:solidFill>
                <a:latin typeface="Helvetica Neue"/>
                <a:ea typeface="Helvetica Neue"/>
                <a:cs typeface="Helvetica Neue"/>
              </a:defRPr>
            </a:pPr>
            <a:r>
              <a:rPr sz="5925" b="1" i="0">
                <a:solidFill>
                  <a:srgbClr val="FFFFFF"/>
                </a:solidFill>
                <a:latin typeface="Helvetica Neue"/>
                <a:ea typeface="Helvetica Neue"/>
                <a:cs typeface="Helvetica Neue"/>
              </a:rPr>
              <a:t>01 Curious Human</a:t>
            </a:r>
          </a:p>
        </p:txBody>
      </p:sp>
      <p:sp>
        <p:nvSpPr>
          <p:cNvPr id="3" name="The closest match to your reference">
            <a:extLst xmlns:a="http://schemas.openxmlformats.org/drawingml/2006/main">
              <a:ext uri="{FF2B5EF4-FFF2-40B4-BE49-F238E27FC236}">
                <a16:creationId xmlns:a16="http://schemas.microsoft.com/office/drawing/2014/main" id="{7F9DA360-AEA7-4CB6-A715-8937E9B04403}"/>
              </a:ext>
            </a:extLst>
          </p:cNvPr>
          <p:cNvSpPr>
            <a:spLocks xmlns:a="http://schemas.openxmlformats.org/drawingml/2006/main" noGrp="1"/>
          </p:cNvSpPr>
          <p:nvPr/>
        </p:nvSpPr>
        <p:spPr>
          <a:xfrm xmlns:a="http://schemas.openxmlformats.org/drawingml/2006/main">
            <a:off x="638175" y="3048000"/>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0" i="0">
                <a:solidFill>
                  <a:srgbClr val="FFFFFF"/>
                </a:solidFill>
                <a:latin typeface="Georgia"/>
                <a:ea typeface="Georgia"/>
                <a:cs typeface="Georgia"/>
              </a:defRPr>
            </a:defPPr>
          </a:lstStyle>
          <a:p xmlns:a="http://schemas.openxmlformats.org/drawingml/2006/main">
            <a:pPr>
              <a:defRPr sz="2925" b="0" i="0">
                <a:solidFill>
                  <a:srgbClr val="FFFFFF"/>
                </a:solidFill>
                <a:latin typeface="Georgia"/>
                <a:ea typeface="Georgia"/>
                <a:cs typeface="Georgia"/>
              </a:defRPr>
            </a:pPr>
            <a:r>
              <a:rPr sz="2925" b="0" i="0">
                <a:solidFill>
                  <a:srgbClr val="FFFFFF"/>
                </a:solidFill>
                <a:latin typeface="Georgia"/>
                <a:ea typeface="Georgia"/>
                <a:cs typeface="Georgia"/>
              </a:rPr>
              <a:t>The closest match to your reference,</a:t>
            </a:r>
          </a:p>
          <a:p xmlns:a="http://schemas.openxmlformats.org/drawingml/2006/main">
            <a:pPr>
              <a:defRPr sz="2925" b="0" i="0">
                <a:solidFill>
                  <a:srgbClr val="FFFFFF"/>
                </a:solidFill>
                <a:latin typeface="Georgia"/>
                <a:ea typeface="Georgia"/>
                <a:cs typeface="Georgia"/>
              </a:defRPr>
            </a:pPr>
            <a:r>
              <a:rPr sz="2925" b="0" i="0">
                <a:solidFill>
                  <a:srgbClr val="FFFFFF"/>
                </a:solidFill>
                <a:latin typeface="Georgia"/>
                <a:ea typeface="Georgia"/>
                <a:cs typeface="Georgia"/>
              </a:rPr>
              <a:t>with room for your real personality.</a:t>
            </a:r>
          </a:p>
        </p:txBody>
      </p:sp>
      <p:sp>
        <p:nvSpPr>
          <p:cNvPr id="4" name="Borrow the warmth of Renzo Radio fo">
            <a:extLst xmlns:a="http://schemas.openxmlformats.org/drawingml/2006/main">
              <a:ext uri="{FF2B5EF4-FFF2-40B4-BE49-F238E27FC236}">
                <a16:creationId xmlns:a16="http://schemas.microsoft.com/office/drawing/2014/main" id="{6F410834-7E60-4E44-AE9A-E98351287C3B}"/>
              </a:ext>
            </a:extLst>
          </p:cNvPr>
          <p:cNvSpPr>
            <a:spLocks xmlns:a="http://schemas.openxmlformats.org/drawingml/2006/main" noGrp="1"/>
          </p:cNvSpPr>
          <p:nvPr/>
        </p:nvSpPr>
        <p:spPr>
          <a:xfrm xmlns:a="http://schemas.openxmlformats.org/drawingml/2006/main">
            <a:off x="638175" y="4762500"/>
            <a:ext cx="101727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i="0">
                <a:solidFill>
                  <a:srgbClr val="FFFFFF"/>
                </a:solidFill>
                <a:latin typeface="Helvetica Neue"/>
                <a:ea typeface="Helvetica Neue"/>
                <a:cs typeface="Helvetica Neue"/>
              </a:defRPr>
            </a:defPPr>
          </a:lstStyle>
          <a:p xmlns:a="http://schemas.openxmlformats.org/drawingml/2006/main">
            <a:pPr>
              <a:defRPr sz="2100" b="0" i="0">
                <a:solidFill>
                  <a:srgbClr val="FFFFFF"/>
                </a:solidFill>
                <a:latin typeface="Helvetica Neue"/>
                <a:ea typeface="Helvetica Neue"/>
                <a:cs typeface="Helvetica Neue"/>
              </a:defRPr>
            </a:pPr>
            <a:r>
              <a:rPr sz="2100" b="0" i="0">
                <a:solidFill>
                  <a:srgbClr val="FFFFFF"/>
                </a:solidFill>
                <a:latin typeface="Helvetica Neue"/>
                <a:ea typeface="Helvetica Neue"/>
                <a:cs typeface="Helvetica Neue"/>
              </a:rPr>
              <a:t>Borrow the warmth of Renzo Radio for the voice and sticker copy.</a:t>
            </a:r>
          </a:p>
          <a:p xmlns:a="http://schemas.openxmlformats.org/drawingml/2006/main">
            <a:pPr>
              <a:defRPr sz="2100" b="0" i="0">
                <a:solidFill>
                  <a:srgbClr val="FFFFFF"/>
                </a:solidFill>
                <a:latin typeface="Helvetica Neue"/>
                <a:ea typeface="Helvetica Neue"/>
                <a:cs typeface="Helvetica Neue"/>
              </a:defRPr>
            </a:pPr>
            <a:r>
              <a:rPr sz="2100" b="0" i="0">
                <a:solidFill>
                  <a:srgbClr val="FFFFFF"/>
                </a:solidFill>
                <a:latin typeface="Helvetica Neue"/>
                <a:ea typeface="Helvetica Neue"/>
                <a:cs typeface="Helvetica Neue"/>
              </a:rPr>
              <a:t>Keep one logo family, one core palette and a consistent type system.</a:t>
            </a:r>
          </a:p>
        </p:txBody>
      </p:sp>
      <p:sp>
        <p:nvSpPr>
          <p:cNvPr id="5" name="Which direction feels most like you">
            <a:extLst xmlns:a="http://schemas.openxmlformats.org/drawingml/2006/main">
              <a:ext uri="{FF2B5EF4-FFF2-40B4-BE49-F238E27FC236}">
                <a16:creationId xmlns:a16="http://schemas.microsoft.com/office/drawing/2014/main" id="{47CB92FE-2702-4BA4-80B8-B82AE1B7608B}"/>
              </a:ext>
            </a:extLst>
          </p:cNvPr>
          <p:cNvSpPr>
            <a:spLocks xmlns:a="http://schemas.openxmlformats.org/drawingml/2006/main" noGrp="1"/>
          </p:cNvSpPr>
          <p:nvPr/>
        </p:nvSpPr>
        <p:spPr>
          <a:xfrm xmlns:a="http://schemas.openxmlformats.org/drawingml/2006/main">
            <a:off x="638175" y="6219825"/>
            <a:ext cx="10191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000" b="1" i="0">
                <a:solidFill>
                  <a:srgbClr val="FFFFFF"/>
                </a:solidFill>
                <a:latin typeface="Helvetica Neue"/>
                <a:ea typeface="Helvetica Neue"/>
                <a:cs typeface="Helvetica Neue"/>
              </a:defRPr>
            </a:defPPr>
          </a:lstStyle>
          <a:p xmlns:a="http://schemas.openxmlformats.org/drawingml/2006/main">
            <a:pPr>
              <a:defRPr sz="3000" b="1" i="0">
                <a:solidFill>
                  <a:srgbClr val="FFFFFF"/>
                </a:solidFill>
                <a:latin typeface="Helvetica Neue"/>
                <a:ea typeface="Helvetica Neue"/>
                <a:cs typeface="Helvetica Neue"/>
              </a:defRPr>
            </a:pPr>
            <a:r>
              <a:rPr sz="3000" b="1" i="0">
                <a:solidFill>
                  <a:srgbClr val="FFFFFF"/>
                </a:solidFill>
                <a:latin typeface="Helvetica Neue"/>
                <a:ea typeface="Helvetica Neue"/>
                <a:cs typeface="Helvetica Neue"/>
              </a:rPr>
              <a:t>Which direction feels most like you?</a:t>
            </a:r>
          </a:p>
        </p:txBody>
      </p:sp>
      <p:sp>
        <p:nvSpPr>
          <p:cNvPr id="6" name="Choose 01–05, or name the specific ">
            <a:extLst xmlns:a="http://schemas.openxmlformats.org/drawingml/2006/main">
              <a:ext uri="{FF2B5EF4-FFF2-40B4-BE49-F238E27FC236}">
                <a16:creationId xmlns:a16="http://schemas.microsoft.com/office/drawing/2014/main" id="{FC6A3509-6F09-4DF3-9C3A-A8352F581ABF}"/>
              </a:ext>
            </a:extLst>
          </p:cNvPr>
          <p:cNvSpPr>
            <a:spLocks xmlns:a="http://schemas.openxmlformats.org/drawingml/2006/main" noGrp="1"/>
          </p:cNvSpPr>
          <p:nvPr/>
        </p:nvSpPr>
        <p:spPr>
          <a:xfrm xmlns:a="http://schemas.openxmlformats.org/drawingml/2006/main">
            <a:off x="638175" y="6877050"/>
            <a:ext cx="1019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i="0">
                <a:solidFill>
                  <a:srgbClr val="FFFFFF"/>
                </a:solidFill>
                <a:latin typeface="Helvetica Neue"/>
                <a:ea typeface="Helvetica Neue"/>
                <a:cs typeface="Helvetica Neue"/>
              </a:defRPr>
            </a:defPPr>
          </a:lstStyle>
          <a:p xmlns:a="http://schemas.openxmlformats.org/drawingml/2006/main">
            <a:pPr>
              <a:defRPr sz="1800" b="0" i="0">
                <a:solidFill>
                  <a:srgbClr val="FFFFFF"/>
                </a:solidFill>
                <a:latin typeface="Helvetica Neue"/>
                <a:ea typeface="Helvetica Neue"/>
                <a:cs typeface="Helvetica Neue"/>
              </a:defRPr>
            </a:pPr>
            <a:r>
              <a:rPr sz="1800" b="0" i="0">
                <a:solidFill>
                  <a:srgbClr val="FFFFFF"/>
                </a:solidFill>
                <a:latin typeface="Helvetica Neue"/>
                <a:ea typeface="Helvetica Neue"/>
                <a:cs typeface="Helvetica Neue"/>
              </a:rPr>
              <a:t>Choose 01–05, or name the specific elements you want to combine.</a:t>
            </a:r>
          </a:p>
        </p:txBody>
      </p:sp>
    </p:spTree>
    <p:extLst>
      <p:ext uri="{BB962C8B-B14F-4D97-AF65-F5344CB8AC3E}">
        <p14:creationId xmlns:p14="http://schemas.microsoft.com/office/powerpoint/2010/main" val="74295317"/>
      </p:ext>
    </p:extLst>
  </p:cSld>
</p:sld>
</file>

<file path=ppt/theme/theme1.xml><?xml version="1.0" encoding="utf-8"?>
<a:theme xmlns:a="http://schemas.openxmlformats.org/drawingml/2006/main" name="ChatGPT">
  <a:themeElements>
    <a:clrScheme name="Curious Human">
      <a:dk1>
        <a:srgbClr val="20211E"/>
      </a:dk1>
      <a:lt1>
        <a:srgbClr val="FFFFFF"/>
      </a:lt1>
      <a:dk2>
        <a:srgbClr val="62665E"/>
      </a:dk2>
      <a:lt2>
        <a:srgbClr val="F6F5EF"/>
      </a:lt2>
      <a:accent1>
        <a:srgbClr val="2453FF"/>
      </a:accent1>
      <a:accent2>
        <a:srgbClr val="20211E"/>
      </a:accent2>
      <a:accent3>
        <a:srgbClr val="DDEF8B"/>
      </a:accent3>
      <a:accent4>
        <a:srgbClr val="ED4C32"/>
      </a:accent4>
      <a:accent5>
        <a:srgbClr val="51449B"/>
      </a:accent5>
      <a:accent6>
        <a:srgbClr val="184B38"/>
      </a:accent6>
      <a:hlink>
        <a:srgbClr val="2453FF"/>
      </a:hlink>
      <a:folHlink>
        <a:srgbClr val="2453FF"/>
      </a:folHlink>
    </a:clrScheme>
    <a:fontScheme name="">
      <a:majorFont>
        <a:latin typeface="Aptos"/>
        <a:ea typeface=""/>
        <a:cs typeface=""/>
      </a:majorFont>
      <a:minorFont>
        <a:latin typeface="Aptos"/>
        <a:ea typeface=""/>
        <a:cs typeface=""/>
      </a:minorFont>
    </a:fontScheme>
    <a:fmtScheme name="Curious Hu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2026-10-09T07:07:29.7770000Z</dcterms:created>
  <dcterms:modified xsi:type="dcterms:W3CDTF">2026-10-09T07:07:29.7770000Z</dcterms:modified>
</coreProperties>
</file>